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365F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6B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4148" y="54673"/>
            <a:ext cx="15679702" cy="1820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78237" y="1851250"/>
            <a:ext cx="13576300" cy="711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Relationship Id="rId4" Type="http://schemas.openxmlformats.org/officeDocument/2006/relationships/image" Target="../media/image6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Relationship Id="rId4" Type="http://schemas.openxmlformats.org/officeDocument/2006/relationships/image" Target="../media/image65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Relationship Id="rId4" Type="http://schemas.openxmlformats.org/officeDocument/2006/relationships/image" Target="../media/image6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Relationship Id="rId4" Type="http://schemas.openxmlformats.org/officeDocument/2006/relationships/image" Target="../media/image7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Relationship Id="rId4" Type="http://schemas.openxmlformats.org/officeDocument/2006/relationships/image" Target="../media/image5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84392" y="5323768"/>
            <a:ext cx="4803775" cy="4953000"/>
          </a:xfrm>
          <a:custGeom>
            <a:avLst/>
            <a:gdLst/>
            <a:ahLst/>
            <a:cxnLst/>
            <a:rect l="l" t="t" r="r" b="b"/>
            <a:pathLst>
              <a:path w="4803775" h="4953000">
                <a:moveTo>
                  <a:pt x="2742806" y="12700"/>
                </a:moveTo>
                <a:lnTo>
                  <a:pt x="2294508" y="12700"/>
                </a:lnTo>
                <a:lnTo>
                  <a:pt x="2329965" y="0"/>
                </a:lnTo>
                <a:lnTo>
                  <a:pt x="2697204" y="0"/>
                </a:lnTo>
                <a:lnTo>
                  <a:pt x="2742806" y="12700"/>
                </a:lnTo>
                <a:close/>
              </a:path>
              <a:path w="4803775" h="4953000">
                <a:moveTo>
                  <a:pt x="4803606" y="1320800"/>
                </a:moveTo>
                <a:lnTo>
                  <a:pt x="1803586" y="1320800"/>
                </a:lnTo>
                <a:lnTo>
                  <a:pt x="1794889" y="1257300"/>
                </a:lnTo>
                <a:lnTo>
                  <a:pt x="1787411" y="1193800"/>
                </a:lnTo>
                <a:lnTo>
                  <a:pt x="1781157" y="1130300"/>
                </a:lnTo>
                <a:lnTo>
                  <a:pt x="1776131" y="1066800"/>
                </a:lnTo>
                <a:lnTo>
                  <a:pt x="1772338" y="1003300"/>
                </a:lnTo>
                <a:lnTo>
                  <a:pt x="1769783" y="952500"/>
                </a:lnTo>
                <a:lnTo>
                  <a:pt x="1768471" y="889000"/>
                </a:lnTo>
                <a:lnTo>
                  <a:pt x="1768408" y="838200"/>
                </a:lnTo>
                <a:lnTo>
                  <a:pt x="1769597" y="787400"/>
                </a:lnTo>
                <a:lnTo>
                  <a:pt x="1772044" y="736600"/>
                </a:lnTo>
                <a:lnTo>
                  <a:pt x="1775755" y="685800"/>
                </a:lnTo>
                <a:lnTo>
                  <a:pt x="1780733" y="635000"/>
                </a:lnTo>
                <a:lnTo>
                  <a:pt x="1786983" y="584200"/>
                </a:lnTo>
                <a:lnTo>
                  <a:pt x="1794511" y="546100"/>
                </a:lnTo>
                <a:lnTo>
                  <a:pt x="1803322" y="495300"/>
                </a:lnTo>
                <a:lnTo>
                  <a:pt x="1813420" y="457200"/>
                </a:lnTo>
                <a:lnTo>
                  <a:pt x="1824811" y="419100"/>
                </a:lnTo>
                <a:lnTo>
                  <a:pt x="1837499" y="381000"/>
                </a:lnTo>
                <a:lnTo>
                  <a:pt x="1851489" y="342900"/>
                </a:lnTo>
                <a:lnTo>
                  <a:pt x="1866786" y="304800"/>
                </a:lnTo>
                <a:lnTo>
                  <a:pt x="1901322" y="254000"/>
                </a:lnTo>
                <a:lnTo>
                  <a:pt x="1920570" y="215900"/>
                </a:lnTo>
                <a:lnTo>
                  <a:pt x="1921046" y="215900"/>
                </a:lnTo>
                <a:lnTo>
                  <a:pt x="1935653" y="203200"/>
                </a:lnTo>
                <a:lnTo>
                  <a:pt x="1951861" y="177800"/>
                </a:lnTo>
                <a:lnTo>
                  <a:pt x="1969638" y="152400"/>
                </a:lnTo>
                <a:lnTo>
                  <a:pt x="1988956" y="139700"/>
                </a:lnTo>
                <a:lnTo>
                  <a:pt x="2009784" y="127000"/>
                </a:lnTo>
                <a:lnTo>
                  <a:pt x="2032092" y="101600"/>
                </a:lnTo>
                <a:lnTo>
                  <a:pt x="2081028" y="76200"/>
                </a:lnTo>
                <a:lnTo>
                  <a:pt x="2135523" y="50800"/>
                </a:lnTo>
                <a:lnTo>
                  <a:pt x="2195338" y="25400"/>
                </a:lnTo>
                <a:lnTo>
                  <a:pt x="2227165" y="25400"/>
                </a:lnTo>
                <a:lnTo>
                  <a:pt x="2260232" y="12700"/>
                </a:lnTo>
                <a:lnTo>
                  <a:pt x="2789258" y="12700"/>
                </a:lnTo>
                <a:lnTo>
                  <a:pt x="2884588" y="38100"/>
                </a:lnTo>
                <a:lnTo>
                  <a:pt x="2933408" y="38100"/>
                </a:lnTo>
                <a:lnTo>
                  <a:pt x="3187843" y="101600"/>
                </a:lnTo>
                <a:lnTo>
                  <a:pt x="3240587" y="127000"/>
                </a:lnTo>
                <a:lnTo>
                  <a:pt x="3347693" y="152400"/>
                </a:lnTo>
                <a:lnTo>
                  <a:pt x="3401995" y="177800"/>
                </a:lnTo>
                <a:lnTo>
                  <a:pt x="3456756" y="190500"/>
                </a:lnTo>
                <a:lnTo>
                  <a:pt x="3567534" y="241300"/>
                </a:lnTo>
                <a:lnTo>
                  <a:pt x="3623491" y="254000"/>
                </a:lnTo>
                <a:lnTo>
                  <a:pt x="3907762" y="381000"/>
                </a:lnTo>
                <a:lnTo>
                  <a:pt x="3965302" y="419100"/>
                </a:lnTo>
                <a:lnTo>
                  <a:pt x="4080829" y="469900"/>
                </a:lnTo>
                <a:lnTo>
                  <a:pt x="4138756" y="508000"/>
                </a:lnTo>
                <a:lnTo>
                  <a:pt x="4196751" y="533400"/>
                </a:lnTo>
                <a:lnTo>
                  <a:pt x="4312777" y="609600"/>
                </a:lnTo>
                <a:lnTo>
                  <a:pt x="4369943" y="635000"/>
                </a:lnTo>
                <a:lnTo>
                  <a:pt x="4426264" y="673100"/>
                </a:lnTo>
                <a:lnTo>
                  <a:pt x="4481719" y="711200"/>
                </a:lnTo>
                <a:lnTo>
                  <a:pt x="4536290" y="749300"/>
                </a:lnTo>
                <a:lnTo>
                  <a:pt x="4589957" y="774700"/>
                </a:lnTo>
                <a:lnTo>
                  <a:pt x="4642701" y="812800"/>
                </a:lnTo>
                <a:lnTo>
                  <a:pt x="4694503" y="850900"/>
                </a:lnTo>
                <a:lnTo>
                  <a:pt x="4745344" y="889000"/>
                </a:lnTo>
                <a:lnTo>
                  <a:pt x="4795204" y="927100"/>
                </a:lnTo>
                <a:lnTo>
                  <a:pt x="4803606" y="927100"/>
                </a:lnTo>
                <a:lnTo>
                  <a:pt x="4803606" y="1320800"/>
                </a:lnTo>
                <a:close/>
              </a:path>
              <a:path w="4803775" h="4953000">
                <a:moveTo>
                  <a:pt x="1349514" y="1181100"/>
                </a:moveTo>
                <a:lnTo>
                  <a:pt x="1141627" y="1181100"/>
                </a:lnTo>
                <a:lnTo>
                  <a:pt x="1161537" y="1168400"/>
                </a:lnTo>
                <a:lnTo>
                  <a:pt x="1305441" y="1168400"/>
                </a:lnTo>
                <a:lnTo>
                  <a:pt x="1349514" y="1181100"/>
                </a:lnTo>
                <a:close/>
              </a:path>
              <a:path w="4803775" h="4953000">
                <a:moveTo>
                  <a:pt x="4363606" y="3289300"/>
                </a:moveTo>
                <a:lnTo>
                  <a:pt x="677732" y="3289300"/>
                </a:lnTo>
                <a:lnTo>
                  <a:pt x="669934" y="3225800"/>
                </a:lnTo>
                <a:lnTo>
                  <a:pt x="662849" y="3162300"/>
                </a:lnTo>
                <a:lnTo>
                  <a:pt x="656473" y="3098800"/>
                </a:lnTo>
                <a:lnTo>
                  <a:pt x="650802" y="3035300"/>
                </a:lnTo>
                <a:lnTo>
                  <a:pt x="645833" y="2984500"/>
                </a:lnTo>
                <a:lnTo>
                  <a:pt x="641560" y="2921000"/>
                </a:lnTo>
                <a:lnTo>
                  <a:pt x="637981" y="2857500"/>
                </a:lnTo>
                <a:lnTo>
                  <a:pt x="635090" y="2794000"/>
                </a:lnTo>
                <a:lnTo>
                  <a:pt x="632885" y="2743200"/>
                </a:lnTo>
                <a:lnTo>
                  <a:pt x="631360" y="2679700"/>
                </a:lnTo>
                <a:lnTo>
                  <a:pt x="630512" y="2616200"/>
                </a:lnTo>
                <a:lnTo>
                  <a:pt x="630633" y="2527300"/>
                </a:lnTo>
                <a:lnTo>
                  <a:pt x="631989" y="2451100"/>
                </a:lnTo>
                <a:lnTo>
                  <a:pt x="633808" y="2400300"/>
                </a:lnTo>
                <a:lnTo>
                  <a:pt x="636283" y="2336800"/>
                </a:lnTo>
                <a:lnTo>
                  <a:pt x="639412" y="2286000"/>
                </a:lnTo>
                <a:lnTo>
                  <a:pt x="643188" y="2235200"/>
                </a:lnTo>
                <a:lnTo>
                  <a:pt x="647610" y="2184400"/>
                </a:lnTo>
                <a:lnTo>
                  <a:pt x="652671" y="2133600"/>
                </a:lnTo>
                <a:lnTo>
                  <a:pt x="658369" y="2082800"/>
                </a:lnTo>
                <a:lnTo>
                  <a:pt x="664700" y="2044700"/>
                </a:lnTo>
                <a:lnTo>
                  <a:pt x="671659" y="1993900"/>
                </a:lnTo>
                <a:lnTo>
                  <a:pt x="679242" y="1943100"/>
                </a:lnTo>
                <a:lnTo>
                  <a:pt x="687445" y="1905000"/>
                </a:lnTo>
                <a:lnTo>
                  <a:pt x="696265" y="1854200"/>
                </a:lnTo>
                <a:lnTo>
                  <a:pt x="705696" y="1816100"/>
                </a:lnTo>
                <a:lnTo>
                  <a:pt x="715736" y="1765300"/>
                </a:lnTo>
                <a:lnTo>
                  <a:pt x="726380" y="1727200"/>
                </a:lnTo>
                <a:lnTo>
                  <a:pt x="737624" y="1689100"/>
                </a:lnTo>
                <a:lnTo>
                  <a:pt x="749464" y="1651000"/>
                </a:lnTo>
                <a:lnTo>
                  <a:pt x="761896" y="1612900"/>
                </a:lnTo>
                <a:lnTo>
                  <a:pt x="774915" y="1574800"/>
                </a:lnTo>
                <a:lnTo>
                  <a:pt x="788519" y="1549400"/>
                </a:lnTo>
                <a:lnTo>
                  <a:pt x="802702" y="1511300"/>
                </a:lnTo>
                <a:lnTo>
                  <a:pt x="817461" y="1485900"/>
                </a:lnTo>
                <a:lnTo>
                  <a:pt x="832792" y="1447800"/>
                </a:lnTo>
                <a:lnTo>
                  <a:pt x="848691" y="1422400"/>
                </a:lnTo>
                <a:lnTo>
                  <a:pt x="866723" y="1384300"/>
                </a:lnTo>
                <a:lnTo>
                  <a:pt x="889378" y="1346200"/>
                </a:lnTo>
                <a:lnTo>
                  <a:pt x="916655" y="1308100"/>
                </a:lnTo>
                <a:lnTo>
                  <a:pt x="948555" y="1270000"/>
                </a:lnTo>
                <a:lnTo>
                  <a:pt x="1004254" y="1231900"/>
                </a:lnTo>
                <a:lnTo>
                  <a:pt x="1066728" y="1206500"/>
                </a:lnTo>
                <a:lnTo>
                  <a:pt x="1084905" y="1193800"/>
                </a:lnTo>
                <a:lnTo>
                  <a:pt x="1103447" y="1193800"/>
                </a:lnTo>
                <a:lnTo>
                  <a:pt x="1122355" y="1181100"/>
                </a:lnTo>
                <a:lnTo>
                  <a:pt x="1395004" y="1181100"/>
                </a:lnTo>
                <a:lnTo>
                  <a:pt x="1490023" y="1206500"/>
                </a:lnTo>
                <a:lnTo>
                  <a:pt x="1590075" y="1231900"/>
                </a:lnTo>
                <a:lnTo>
                  <a:pt x="1641856" y="1257300"/>
                </a:lnTo>
                <a:lnTo>
                  <a:pt x="1694737" y="1270000"/>
                </a:lnTo>
                <a:lnTo>
                  <a:pt x="1803586" y="1320800"/>
                </a:lnTo>
                <a:lnTo>
                  <a:pt x="4803606" y="1320800"/>
                </a:lnTo>
                <a:lnTo>
                  <a:pt x="4803606" y="2413000"/>
                </a:lnTo>
                <a:lnTo>
                  <a:pt x="4070629" y="2413000"/>
                </a:lnTo>
                <a:lnTo>
                  <a:pt x="4096509" y="2476500"/>
                </a:lnTo>
                <a:lnTo>
                  <a:pt x="4121634" y="2540000"/>
                </a:lnTo>
                <a:lnTo>
                  <a:pt x="4146003" y="2603500"/>
                </a:lnTo>
                <a:lnTo>
                  <a:pt x="4169614" y="2667000"/>
                </a:lnTo>
                <a:lnTo>
                  <a:pt x="4192465" y="2730500"/>
                </a:lnTo>
                <a:lnTo>
                  <a:pt x="4214554" y="2794000"/>
                </a:lnTo>
                <a:lnTo>
                  <a:pt x="4235879" y="2857500"/>
                </a:lnTo>
                <a:lnTo>
                  <a:pt x="4256439" y="2921000"/>
                </a:lnTo>
                <a:lnTo>
                  <a:pt x="4276230" y="2984500"/>
                </a:lnTo>
                <a:lnTo>
                  <a:pt x="4295252" y="3048000"/>
                </a:lnTo>
                <a:lnTo>
                  <a:pt x="4313503" y="3111500"/>
                </a:lnTo>
                <a:lnTo>
                  <a:pt x="4330980" y="3162300"/>
                </a:lnTo>
                <a:lnTo>
                  <a:pt x="4347682" y="3225800"/>
                </a:lnTo>
                <a:lnTo>
                  <a:pt x="4363606" y="3289300"/>
                </a:lnTo>
                <a:close/>
              </a:path>
              <a:path w="4803775" h="4953000">
                <a:moveTo>
                  <a:pt x="4803606" y="2628900"/>
                </a:moveTo>
                <a:lnTo>
                  <a:pt x="4790364" y="2616200"/>
                </a:lnTo>
                <a:lnTo>
                  <a:pt x="4734940" y="2616200"/>
                </a:lnTo>
                <a:lnTo>
                  <a:pt x="4562973" y="2578100"/>
                </a:lnTo>
                <a:lnTo>
                  <a:pt x="4503905" y="2552700"/>
                </a:lnTo>
                <a:lnTo>
                  <a:pt x="4383420" y="2527300"/>
                </a:lnTo>
                <a:lnTo>
                  <a:pt x="4260108" y="2476500"/>
                </a:lnTo>
                <a:lnTo>
                  <a:pt x="4197504" y="2463800"/>
                </a:lnTo>
                <a:lnTo>
                  <a:pt x="4070629" y="2413000"/>
                </a:lnTo>
                <a:lnTo>
                  <a:pt x="4803606" y="2413000"/>
                </a:lnTo>
                <a:lnTo>
                  <a:pt x="4803606" y="2628900"/>
                </a:lnTo>
                <a:close/>
              </a:path>
              <a:path w="4803775" h="4953000">
                <a:moveTo>
                  <a:pt x="2533026" y="4953000"/>
                </a:moveTo>
                <a:lnTo>
                  <a:pt x="641981" y="4953000"/>
                </a:lnTo>
                <a:lnTo>
                  <a:pt x="630653" y="4940300"/>
                </a:lnTo>
                <a:lnTo>
                  <a:pt x="590138" y="4889500"/>
                </a:lnTo>
                <a:lnTo>
                  <a:pt x="550826" y="4838700"/>
                </a:lnTo>
                <a:lnTo>
                  <a:pt x="512733" y="4787900"/>
                </a:lnTo>
                <a:lnTo>
                  <a:pt x="475872" y="4737100"/>
                </a:lnTo>
                <a:lnTo>
                  <a:pt x="440261" y="4673600"/>
                </a:lnTo>
                <a:lnTo>
                  <a:pt x="405914" y="4622800"/>
                </a:lnTo>
                <a:lnTo>
                  <a:pt x="372846" y="4572000"/>
                </a:lnTo>
                <a:lnTo>
                  <a:pt x="341073" y="4521200"/>
                </a:lnTo>
                <a:lnTo>
                  <a:pt x="310611" y="4470400"/>
                </a:lnTo>
                <a:lnTo>
                  <a:pt x="281473" y="4419600"/>
                </a:lnTo>
                <a:lnTo>
                  <a:pt x="253676" y="4368800"/>
                </a:lnTo>
                <a:lnTo>
                  <a:pt x="227235" y="4318000"/>
                </a:lnTo>
                <a:lnTo>
                  <a:pt x="202165" y="4267200"/>
                </a:lnTo>
                <a:lnTo>
                  <a:pt x="178482" y="4216400"/>
                </a:lnTo>
                <a:lnTo>
                  <a:pt x="156200" y="4165600"/>
                </a:lnTo>
                <a:lnTo>
                  <a:pt x="135335" y="4114800"/>
                </a:lnTo>
                <a:lnTo>
                  <a:pt x="115903" y="4064000"/>
                </a:lnTo>
                <a:lnTo>
                  <a:pt x="97918" y="4025900"/>
                </a:lnTo>
                <a:lnTo>
                  <a:pt x="81396" y="3975100"/>
                </a:lnTo>
                <a:lnTo>
                  <a:pt x="66352" y="3924300"/>
                </a:lnTo>
                <a:lnTo>
                  <a:pt x="52802" y="3886200"/>
                </a:lnTo>
                <a:lnTo>
                  <a:pt x="40761" y="3835400"/>
                </a:lnTo>
                <a:lnTo>
                  <a:pt x="30243" y="3797300"/>
                </a:lnTo>
                <a:lnTo>
                  <a:pt x="21265" y="3759200"/>
                </a:lnTo>
                <a:lnTo>
                  <a:pt x="13842" y="3708400"/>
                </a:lnTo>
                <a:lnTo>
                  <a:pt x="7988" y="3670300"/>
                </a:lnTo>
                <a:lnTo>
                  <a:pt x="3720" y="3632200"/>
                </a:lnTo>
                <a:lnTo>
                  <a:pt x="1052" y="3594100"/>
                </a:lnTo>
                <a:lnTo>
                  <a:pt x="0" y="3556000"/>
                </a:lnTo>
                <a:lnTo>
                  <a:pt x="578" y="3530600"/>
                </a:lnTo>
                <a:lnTo>
                  <a:pt x="2804" y="3492500"/>
                </a:lnTo>
                <a:lnTo>
                  <a:pt x="6690" y="3467100"/>
                </a:lnTo>
                <a:lnTo>
                  <a:pt x="12254" y="3429000"/>
                </a:lnTo>
                <a:lnTo>
                  <a:pt x="28473" y="3378200"/>
                </a:lnTo>
                <a:lnTo>
                  <a:pt x="51584" y="3327400"/>
                </a:lnTo>
                <a:lnTo>
                  <a:pt x="81707" y="3276600"/>
                </a:lnTo>
                <a:lnTo>
                  <a:pt x="118967" y="3251200"/>
                </a:lnTo>
                <a:lnTo>
                  <a:pt x="151330" y="3225800"/>
                </a:lnTo>
                <a:lnTo>
                  <a:pt x="186792" y="3213100"/>
                </a:lnTo>
                <a:lnTo>
                  <a:pt x="225199" y="3200400"/>
                </a:lnTo>
                <a:lnTo>
                  <a:pt x="266394" y="3187700"/>
                </a:lnTo>
                <a:lnTo>
                  <a:pt x="356531" y="3187700"/>
                </a:lnTo>
                <a:lnTo>
                  <a:pt x="405162" y="3200400"/>
                </a:lnTo>
                <a:lnTo>
                  <a:pt x="455961" y="3200400"/>
                </a:lnTo>
                <a:lnTo>
                  <a:pt x="508773" y="3225800"/>
                </a:lnTo>
                <a:lnTo>
                  <a:pt x="563442" y="3238500"/>
                </a:lnTo>
                <a:lnTo>
                  <a:pt x="619814" y="3263900"/>
                </a:lnTo>
                <a:lnTo>
                  <a:pt x="677732" y="3289300"/>
                </a:lnTo>
                <a:lnTo>
                  <a:pt x="4363606" y="3289300"/>
                </a:lnTo>
                <a:lnTo>
                  <a:pt x="4378751" y="3352800"/>
                </a:lnTo>
                <a:lnTo>
                  <a:pt x="4393115" y="3403600"/>
                </a:lnTo>
                <a:lnTo>
                  <a:pt x="4406696" y="3467100"/>
                </a:lnTo>
                <a:lnTo>
                  <a:pt x="4419492" y="3517900"/>
                </a:lnTo>
                <a:lnTo>
                  <a:pt x="4431501" y="3581400"/>
                </a:lnTo>
                <a:lnTo>
                  <a:pt x="4442722" y="3632200"/>
                </a:lnTo>
                <a:lnTo>
                  <a:pt x="4453151" y="3695700"/>
                </a:lnTo>
                <a:lnTo>
                  <a:pt x="4462788" y="3746500"/>
                </a:lnTo>
                <a:lnTo>
                  <a:pt x="4471630" y="3797300"/>
                </a:lnTo>
                <a:lnTo>
                  <a:pt x="4479676" y="3848100"/>
                </a:lnTo>
                <a:lnTo>
                  <a:pt x="4486924" y="3911600"/>
                </a:lnTo>
                <a:lnTo>
                  <a:pt x="4493371" y="3962400"/>
                </a:lnTo>
                <a:lnTo>
                  <a:pt x="4499016" y="4013200"/>
                </a:lnTo>
                <a:lnTo>
                  <a:pt x="4503857" y="4064000"/>
                </a:lnTo>
                <a:lnTo>
                  <a:pt x="4507891" y="4102100"/>
                </a:lnTo>
                <a:lnTo>
                  <a:pt x="4511118" y="4152900"/>
                </a:lnTo>
                <a:lnTo>
                  <a:pt x="4513535" y="4203700"/>
                </a:lnTo>
                <a:lnTo>
                  <a:pt x="4515140" y="4254500"/>
                </a:lnTo>
                <a:lnTo>
                  <a:pt x="4515931" y="4292600"/>
                </a:lnTo>
                <a:lnTo>
                  <a:pt x="4515907" y="4343400"/>
                </a:lnTo>
                <a:lnTo>
                  <a:pt x="4515626" y="4356100"/>
                </a:lnTo>
                <a:lnTo>
                  <a:pt x="2555304" y="4356100"/>
                </a:lnTo>
                <a:lnTo>
                  <a:pt x="2556770" y="4419600"/>
                </a:lnTo>
                <a:lnTo>
                  <a:pt x="2557134" y="4470400"/>
                </a:lnTo>
                <a:lnTo>
                  <a:pt x="2557168" y="4521200"/>
                </a:lnTo>
                <a:lnTo>
                  <a:pt x="2557021" y="4546600"/>
                </a:lnTo>
                <a:lnTo>
                  <a:pt x="2555672" y="4622800"/>
                </a:lnTo>
                <a:lnTo>
                  <a:pt x="2553496" y="4686300"/>
                </a:lnTo>
                <a:lnTo>
                  <a:pt x="2550424" y="4749800"/>
                </a:lnTo>
                <a:lnTo>
                  <a:pt x="2546465" y="4813300"/>
                </a:lnTo>
                <a:lnTo>
                  <a:pt x="2541624" y="4876800"/>
                </a:lnTo>
                <a:lnTo>
                  <a:pt x="2535907" y="4927600"/>
                </a:lnTo>
                <a:lnTo>
                  <a:pt x="2533026" y="4953000"/>
                </a:lnTo>
                <a:close/>
              </a:path>
              <a:path w="4803775" h="4953000">
                <a:moveTo>
                  <a:pt x="4366144" y="4953000"/>
                </a:moveTo>
                <a:lnTo>
                  <a:pt x="3457523" y="4953000"/>
                </a:lnTo>
                <a:lnTo>
                  <a:pt x="3428322" y="4940300"/>
                </a:lnTo>
                <a:lnTo>
                  <a:pt x="3383303" y="4927600"/>
                </a:lnTo>
                <a:lnTo>
                  <a:pt x="3337725" y="4902200"/>
                </a:lnTo>
                <a:lnTo>
                  <a:pt x="3197917" y="4826000"/>
                </a:lnTo>
                <a:lnTo>
                  <a:pt x="3150383" y="4787900"/>
                </a:lnTo>
                <a:lnTo>
                  <a:pt x="3054088" y="4737100"/>
                </a:lnTo>
                <a:lnTo>
                  <a:pt x="2956340" y="4660900"/>
                </a:lnTo>
                <a:lnTo>
                  <a:pt x="2906991" y="4635500"/>
                </a:lnTo>
                <a:lnTo>
                  <a:pt x="2656622" y="4445000"/>
                </a:lnTo>
                <a:lnTo>
                  <a:pt x="2606019" y="4394200"/>
                </a:lnTo>
                <a:lnTo>
                  <a:pt x="2555304" y="4356100"/>
                </a:lnTo>
                <a:lnTo>
                  <a:pt x="4515626" y="4356100"/>
                </a:lnTo>
                <a:lnTo>
                  <a:pt x="4515065" y="4381500"/>
                </a:lnTo>
                <a:lnTo>
                  <a:pt x="4513403" y="4432300"/>
                </a:lnTo>
                <a:lnTo>
                  <a:pt x="4510920" y="4470400"/>
                </a:lnTo>
                <a:lnTo>
                  <a:pt x="4507614" y="4508500"/>
                </a:lnTo>
                <a:lnTo>
                  <a:pt x="4503482" y="4546600"/>
                </a:lnTo>
                <a:lnTo>
                  <a:pt x="4498523" y="4584700"/>
                </a:lnTo>
                <a:lnTo>
                  <a:pt x="4492735" y="4622800"/>
                </a:lnTo>
                <a:lnTo>
                  <a:pt x="4486117" y="4660900"/>
                </a:lnTo>
                <a:lnTo>
                  <a:pt x="4478665" y="4699000"/>
                </a:lnTo>
                <a:lnTo>
                  <a:pt x="4470378" y="4724400"/>
                </a:lnTo>
                <a:lnTo>
                  <a:pt x="4461255" y="4762500"/>
                </a:lnTo>
                <a:lnTo>
                  <a:pt x="4451292" y="4787900"/>
                </a:lnTo>
                <a:lnTo>
                  <a:pt x="4440490" y="4813300"/>
                </a:lnTo>
                <a:lnTo>
                  <a:pt x="4428844" y="4851400"/>
                </a:lnTo>
                <a:lnTo>
                  <a:pt x="4416355" y="4876800"/>
                </a:lnTo>
                <a:lnTo>
                  <a:pt x="4403018" y="4902200"/>
                </a:lnTo>
                <a:lnTo>
                  <a:pt x="4388834" y="4927600"/>
                </a:lnTo>
                <a:lnTo>
                  <a:pt x="4373799" y="4940300"/>
                </a:lnTo>
                <a:lnTo>
                  <a:pt x="4366144" y="49530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2933700" cy="4319270"/>
          </a:xfrm>
          <a:custGeom>
            <a:avLst/>
            <a:gdLst/>
            <a:ahLst/>
            <a:cxnLst/>
            <a:rect l="l" t="t" r="r" b="b"/>
            <a:pathLst>
              <a:path w="2933700" h="4319270">
                <a:moveTo>
                  <a:pt x="2554572" y="1129673"/>
                </a:moveTo>
                <a:lnTo>
                  <a:pt x="2606734" y="1133007"/>
                </a:lnTo>
                <a:lnTo>
                  <a:pt x="2656042" y="1142698"/>
                </a:lnTo>
                <a:lnTo>
                  <a:pt x="2702296" y="1158902"/>
                </a:lnTo>
                <a:lnTo>
                  <a:pt x="2745297" y="1181772"/>
                </a:lnTo>
                <a:lnTo>
                  <a:pt x="2789071" y="1215210"/>
                </a:lnTo>
                <a:lnTo>
                  <a:pt x="2826924" y="1255996"/>
                </a:lnTo>
                <a:lnTo>
                  <a:pt x="2858920" y="1303775"/>
                </a:lnTo>
                <a:lnTo>
                  <a:pt x="2885121" y="1358195"/>
                </a:lnTo>
                <a:lnTo>
                  <a:pt x="2905589" y="1418903"/>
                </a:lnTo>
                <a:lnTo>
                  <a:pt x="2920387" y="1485546"/>
                </a:lnTo>
                <a:lnTo>
                  <a:pt x="2929578" y="1557770"/>
                </a:lnTo>
                <a:lnTo>
                  <a:pt x="2932090" y="1595864"/>
                </a:lnTo>
                <a:lnTo>
                  <a:pt x="2933224" y="1635222"/>
                </a:lnTo>
                <a:lnTo>
                  <a:pt x="2932987" y="1675798"/>
                </a:lnTo>
                <a:lnTo>
                  <a:pt x="2931387" y="1717549"/>
                </a:lnTo>
                <a:lnTo>
                  <a:pt x="2928431" y="1760431"/>
                </a:lnTo>
                <a:lnTo>
                  <a:pt x="2924129" y="1804399"/>
                </a:lnTo>
                <a:lnTo>
                  <a:pt x="2918487" y="1849409"/>
                </a:lnTo>
                <a:lnTo>
                  <a:pt x="2911514" y="1895417"/>
                </a:lnTo>
                <a:lnTo>
                  <a:pt x="2903216" y="1942379"/>
                </a:lnTo>
                <a:lnTo>
                  <a:pt x="2893603" y="1990251"/>
                </a:lnTo>
                <a:lnTo>
                  <a:pt x="2882681" y="2038989"/>
                </a:lnTo>
                <a:lnTo>
                  <a:pt x="2870459" y="2088548"/>
                </a:lnTo>
                <a:lnTo>
                  <a:pt x="2856945" y="2138884"/>
                </a:lnTo>
                <a:lnTo>
                  <a:pt x="2842145" y="2189954"/>
                </a:lnTo>
                <a:lnTo>
                  <a:pt x="2826069" y="2241713"/>
                </a:lnTo>
                <a:lnTo>
                  <a:pt x="2808723" y="2294116"/>
                </a:lnTo>
                <a:lnTo>
                  <a:pt x="2790116" y="2347121"/>
                </a:lnTo>
                <a:lnTo>
                  <a:pt x="2770255" y="2400682"/>
                </a:lnTo>
                <a:lnTo>
                  <a:pt x="2749148" y="2454756"/>
                </a:lnTo>
                <a:lnTo>
                  <a:pt x="2726804" y="2509298"/>
                </a:lnTo>
                <a:lnTo>
                  <a:pt x="2703229" y="2564265"/>
                </a:lnTo>
                <a:lnTo>
                  <a:pt x="2678432" y="2619611"/>
                </a:lnTo>
                <a:lnTo>
                  <a:pt x="2652421" y="2675294"/>
                </a:lnTo>
                <a:lnTo>
                  <a:pt x="2625202" y="2731268"/>
                </a:lnTo>
                <a:lnTo>
                  <a:pt x="2596785" y="2787490"/>
                </a:lnTo>
                <a:lnTo>
                  <a:pt x="2567176" y="2843916"/>
                </a:lnTo>
                <a:lnTo>
                  <a:pt x="2536385" y="2900501"/>
                </a:lnTo>
                <a:lnTo>
                  <a:pt x="2504417" y="2957201"/>
                </a:lnTo>
                <a:lnTo>
                  <a:pt x="2471282" y="3013972"/>
                </a:lnTo>
                <a:lnTo>
                  <a:pt x="2436987" y="3070770"/>
                </a:lnTo>
                <a:lnTo>
                  <a:pt x="2401540" y="3127552"/>
                </a:lnTo>
                <a:lnTo>
                  <a:pt x="2365254" y="3183800"/>
                </a:lnTo>
                <a:lnTo>
                  <a:pt x="2328462" y="3239014"/>
                </a:lnTo>
                <a:lnTo>
                  <a:pt x="2291201" y="3293167"/>
                </a:lnTo>
                <a:lnTo>
                  <a:pt x="2253507" y="3346232"/>
                </a:lnTo>
                <a:lnTo>
                  <a:pt x="2215417" y="3398185"/>
                </a:lnTo>
                <a:lnTo>
                  <a:pt x="2176967" y="3449000"/>
                </a:lnTo>
                <a:lnTo>
                  <a:pt x="2138194" y="3498649"/>
                </a:lnTo>
                <a:lnTo>
                  <a:pt x="2099135" y="3547109"/>
                </a:lnTo>
                <a:lnTo>
                  <a:pt x="2059826" y="3594352"/>
                </a:lnTo>
                <a:lnTo>
                  <a:pt x="2020304" y="3640354"/>
                </a:lnTo>
                <a:lnTo>
                  <a:pt x="1980605" y="3685087"/>
                </a:lnTo>
                <a:lnTo>
                  <a:pt x="1940767" y="3728527"/>
                </a:lnTo>
                <a:lnTo>
                  <a:pt x="1900824" y="3770648"/>
                </a:lnTo>
                <a:lnTo>
                  <a:pt x="1860815" y="3811423"/>
                </a:lnTo>
                <a:lnTo>
                  <a:pt x="1820776" y="3850827"/>
                </a:lnTo>
                <a:lnTo>
                  <a:pt x="1780743" y="3888834"/>
                </a:lnTo>
                <a:lnTo>
                  <a:pt x="1740753" y="3925418"/>
                </a:lnTo>
                <a:lnTo>
                  <a:pt x="1700842" y="3960553"/>
                </a:lnTo>
                <a:lnTo>
                  <a:pt x="1661048" y="3994213"/>
                </a:lnTo>
                <a:lnTo>
                  <a:pt x="1621406" y="4026374"/>
                </a:lnTo>
                <a:lnTo>
                  <a:pt x="1581953" y="4057008"/>
                </a:lnTo>
                <a:lnTo>
                  <a:pt x="1542727" y="4086089"/>
                </a:lnTo>
                <a:lnTo>
                  <a:pt x="1503763" y="4113593"/>
                </a:lnTo>
                <a:lnTo>
                  <a:pt x="1465098" y="4139493"/>
                </a:lnTo>
                <a:lnTo>
                  <a:pt x="1426769" y="4163764"/>
                </a:lnTo>
                <a:lnTo>
                  <a:pt x="1388812" y="4186379"/>
                </a:lnTo>
                <a:lnTo>
                  <a:pt x="1351264" y="4207313"/>
                </a:lnTo>
                <a:lnTo>
                  <a:pt x="1314161" y="4226539"/>
                </a:lnTo>
                <a:lnTo>
                  <a:pt x="1277541" y="4244032"/>
                </a:lnTo>
                <a:lnTo>
                  <a:pt x="1241439" y="4259767"/>
                </a:lnTo>
                <a:lnTo>
                  <a:pt x="1205892" y="4273717"/>
                </a:lnTo>
                <a:lnTo>
                  <a:pt x="1136611" y="4296159"/>
                </a:lnTo>
                <a:lnTo>
                  <a:pt x="1069990" y="4311152"/>
                </a:lnTo>
                <a:lnTo>
                  <a:pt x="1006321" y="4318490"/>
                </a:lnTo>
                <a:lnTo>
                  <a:pt x="975686" y="4319223"/>
                </a:lnTo>
                <a:lnTo>
                  <a:pt x="945899" y="4317965"/>
                </a:lnTo>
                <a:lnTo>
                  <a:pt x="889015" y="4309371"/>
                </a:lnTo>
                <a:lnTo>
                  <a:pt x="835961" y="4292501"/>
                </a:lnTo>
                <a:lnTo>
                  <a:pt x="787032" y="4267148"/>
                </a:lnTo>
                <a:lnTo>
                  <a:pt x="729654" y="4220498"/>
                </a:lnTo>
                <a:lnTo>
                  <a:pt x="682896" y="4160844"/>
                </a:lnTo>
                <a:lnTo>
                  <a:pt x="663454" y="4126406"/>
                </a:lnTo>
                <a:lnTo>
                  <a:pt x="646612" y="4089036"/>
                </a:lnTo>
                <a:lnTo>
                  <a:pt x="632351" y="4048841"/>
                </a:lnTo>
                <a:lnTo>
                  <a:pt x="620653" y="4005926"/>
                </a:lnTo>
                <a:lnTo>
                  <a:pt x="611530" y="3960553"/>
                </a:lnTo>
                <a:lnTo>
                  <a:pt x="604871" y="3912365"/>
                </a:lnTo>
                <a:lnTo>
                  <a:pt x="600751" y="3861932"/>
                </a:lnTo>
                <a:lnTo>
                  <a:pt x="599188" y="3811423"/>
                </a:lnTo>
                <a:lnTo>
                  <a:pt x="599120" y="3809205"/>
                </a:lnTo>
                <a:lnTo>
                  <a:pt x="599908" y="3757622"/>
                </a:lnTo>
                <a:lnTo>
                  <a:pt x="603250" y="3697297"/>
                </a:lnTo>
                <a:lnTo>
                  <a:pt x="608975" y="3638329"/>
                </a:lnTo>
                <a:lnTo>
                  <a:pt x="617115" y="3577492"/>
                </a:lnTo>
                <a:lnTo>
                  <a:pt x="0" y="3577492"/>
                </a:lnTo>
                <a:lnTo>
                  <a:pt x="0" y="1211022"/>
                </a:lnTo>
                <a:lnTo>
                  <a:pt x="1932693" y="1211022"/>
                </a:lnTo>
                <a:lnTo>
                  <a:pt x="1991944" y="1194628"/>
                </a:lnTo>
                <a:lnTo>
                  <a:pt x="2049861" y="1180028"/>
                </a:lnTo>
                <a:lnTo>
                  <a:pt x="2106376" y="1167239"/>
                </a:lnTo>
                <a:lnTo>
                  <a:pt x="2161422" y="1156282"/>
                </a:lnTo>
                <a:lnTo>
                  <a:pt x="2214932" y="1147174"/>
                </a:lnTo>
                <a:lnTo>
                  <a:pt x="2266840" y="1139935"/>
                </a:lnTo>
                <a:lnTo>
                  <a:pt x="2317078" y="1134584"/>
                </a:lnTo>
                <a:lnTo>
                  <a:pt x="2345786" y="1132544"/>
                </a:lnTo>
                <a:lnTo>
                  <a:pt x="2499756" y="1132544"/>
                </a:lnTo>
                <a:lnTo>
                  <a:pt x="2554572" y="1129673"/>
                </a:lnTo>
                <a:close/>
              </a:path>
              <a:path w="2933700" h="4319270">
                <a:moveTo>
                  <a:pt x="0" y="3577492"/>
                </a:moveTo>
                <a:lnTo>
                  <a:pt x="617115" y="3577492"/>
                </a:lnTo>
                <a:lnTo>
                  <a:pt x="560548" y="3602315"/>
                </a:lnTo>
                <a:lnTo>
                  <a:pt x="504569" y="3625960"/>
                </a:lnTo>
                <a:lnTo>
                  <a:pt x="449216" y="3648416"/>
                </a:lnTo>
                <a:lnTo>
                  <a:pt x="394530" y="3669674"/>
                </a:lnTo>
                <a:lnTo>
                  <a:pt x="340549" y="3689723"/>
                </a:lnTo>
                <a:lnTo>
                  <a:pt x="287314" y="3708553"/>
                </a:lnTo>
                <a:lnTo>
                  <a:pt x="234863" y="3726153"/>
                </a:lnTo>
                <a:lnTo>
                  <a:pt x="183235" y="3742513"/>
                </a:lnTo>
                <a:lnTo>
                  <a:pt x="132470" y="3757622"/>
                </a:lnTo>
                <a:lnTo>
                  <a:pt x="82608" y="3771470"/>
                </a:lnTo>
                <a:lnTo>
                  <a:pt x="33688" y="3784047"/>
                </a:lnTo>
                <a:lnTo>
                  <a:pt x="0" y="3791985"/>
                </a:lnTo>
                <a:lnTo>
                  <a:pt x="0" y="3577492"/>
                </a:lnTo>
                <a:close/>
              </a:path>
              <a:path w="2933700" h="4319270">
                <a:moveTo>
                  <a:pt x="0" y="0"/>
                </a:moveTo>
                <a:lnTo>
                  <a:pt x="2040058" y="0"/>
                </a:lnTo>
                <a:lnTo>
                  <a:pt x="2045338" y="9634"/>
                </a:lnTo>
                <a:lnTo>
                  <a:pt x="2072113" y="72949"/>
                </a:lnTo>
                <a:lnTo>
                  <a:pt x="2092376" y="143230"/>
                </a:lnTo>
                <a:lnTo>
                  <a:pt x="2100091" y="180869"/>
                </a:lnTo>
                <a:lnTo>
                  <a:pt x="2106209" y="220115"/>
                </a:lnTo>
                <a:lnTo>
                  <a:pt x="2110740" y="260922"/>
                </a:lnTo>
                <a:lnTo>
                  <a:pt x="2113694" y="303245"/>
                </a:lnTo>
                <a:lnTo>
                  <a:pt x="2115082" y="347038"/>
                </a:lnTo>
                <a:lnTo>
                  <a:pt x="2114915" y="392258"/>
                </a:lnTo>
                <a:lnTo>
                  <a:pt x="2113201" y="438859"/>
                </a:lnTo>
                <a:lnTo>
                  <a:pt x="2109952" y="486795"/>
                </a:lnTo>
                <a:lnTo>
                  <a:pt x="2105178" y="536022"/>
                </a:lnTo>
                <a:lnTo>
                  <a:pt x="2098890" y="586495"/>
                </a:lnTo>
                <a:lnTo>
                  <a:pt x="2091097" y="638168"/>
                </a:lnTo>
                <a:lnTo>
                  <a:pt x="2081810" y="690997"/>
                </a:lnTo>
                <a:lnTo>
                  <a:pt x="2071039" y="744936"/>
                </a:lnTo>
                <a:lnTo>
                  <a:pt x="2058794" y="799941"/>
                </a:lnTo>
                <a:lnTo>
                  <a:pt x="2045087" y="855966"/>
                </a:lnTo>
                <a:lnTo>
                  <a:pt x="2029927" y="912967"/>
                </a:lnTo>
                <a:lnTo>
                  <a:pt x="2013324" y="970897"/>
                </a:lnTo>
                <a:lnTo>
                  <a:pt x="1995289" y="1029714"/>
                </a:lnTo>
                <a:lnTo>
                  <a:pt x="1975832" y="1089370"/>
                </a:lnTo>
                <a:lnTo>
                  <a:pt x="1954963" y="1149821"/>
                </a:lnTo>
                <a:lnTo>
                  <a:pt x="1932693" y="1211022"/>
                </a:lnTo>
                <a:lnTo>
                  <a:pt x="0" y="1211022"/>
                </a:lnTo>
                <a:lnTo>
                  <a:pt x="0" y="0"/>
                </a:lnTo>
                <a:close/>
              </a:path>
              <a:path w="2933700" h="4319270">
                <a:moveTo>
                  <a:pt x="2410557" y="1129673"/>
                </a:moveTo>
                <a:lnTo>
                  <a:pt x="2418219" y="1129673"/>
                </a:lnTo>
                <a:lnTo>
                  <a:pt x="2457105" y="1130040"/>
                </a:lnTo>
                <a:lnTo>
                  <a:pt x="2502132" y="1132544"/>
                </a:lnTo>
                <a:lnTo>
                  <a:pt x="2345786" y="1132544"/>
                </a:lnTo>
                <a:lnTo>
                  <a:pt x="2365580" y="1131138"/>
                </a:lnTo>
                <a:lnTo>
                  <a:pt x="2410557" y="1129673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333" y="1764172"/>
            <a:ext cx="5781689" cy="57816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3208096"/>
            <a:ext cx="7764145" cy="4133850"/>
          </a:xfrm>
          <a:prstGeom prst="rect"/>
        </p:spPr>
        <p:txBody>
          <a:bodyPr wrap="square" lIns="0" tIns="219710" rIns="0" bIns="0" rtlCol="0" vert="horz">
            <a:spAutoFit/>
          </a:bodyPr>
          <a:lstStyle/>
          <a:p>
            <a:pPr marL="12700" marR="5080">
              <a:lnSpc>
                <a:spcPts val="8180"/>
              </a:lnSpc>
              <a:spcBef>
                <a:spcPts val="1730"/>
              </a:spcBef>
            </a:pPr>
            <a:r>
              <a:rPr dirty="0" sz="8150" spc="-434">
                <a:solidFill>
                  <a:srgbClr val="FF3030"/>
                </a:solidFill>
              </a:rPr>
              <a:t>BLOOD</a:t>
            </a:r>
            <a:r>
              <a:rPr dirty="0" sz="8150" spc="-610">
                <a:solidFill>
                  <a:srgbClr val="FF3030"/>
                </a:solidFill>
              </a:rPr>
              <a:t> </a:t>
            </a:r>
            <a:r>
              <a:rPr dirty="0" sz="8150" spc="-755">
                <a:solidFill>
                  <a:srgbClr val="FF3030"/>
                </a:solidFill>
              </a:rPr>
              <a:t>BANK </a:t>
            </a:r>
            <a:r>
              <a:rPr dirty="0" sz="8150" spc="-565">
                <a:solidFill>
                  <a:srgbClr val="FF3030"/>
                </a:solidFill>
              </a:rPr>
              <a:t>MANAGEMENT </a:t>
            </a:r>
            <a:r>
              <a:rPr dirty="0" sz="8150" spc="-795">
                <a:solidFill>
                  <a:srgbClr val="FF3030"/>
                </a:solidFill>
              </a:rPr>
              <a:t>SYSTEM</a:t>
            </a:r>
            <a:endParaRPr sz="8150"/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3600" spc="95">
                <a:solidFill>
                  <a:srgbClr val="63392D"/>
                </a:solidFill>
                <a:latin typeface="Lucida Sans"/>
                <a:cs typeface="Lucida Sans"/>
              </a:rPr>
              <a:t>Presentation</a:t>
            </a:r>
            <a:r>
              <a:rPr dirty="0" sz="3600" spc="-200">
                <a:solidFill>
                  <a:srgbClr val="63392D"/>
                </a:solidFill>
                <a:latin typeface="Lucida Sans"/>
                <a:cs typeface="Lucida Sans"/>
              </a:rPr>
              <a:t> </a:t>
            </a:r>
            <a:r>
              <a:rPr dirty="0" sz="3600" spc="130">
                <a:solidFill>
                  <a:srgbClr val="63392D"/>
                </a:solidFill>
                <a:latin typeface="Lucida Sans"/>
                <a:cs typeface="Lucida Sans"/>
              </a:rPr>
              <a:t>by</a:t>
            </a:r>
            <a:r>
              <a:rPr dirty="0" sz="3600" spc="-200">
                <a:solidFill>
                  <a:srgbClr val="63392D"/>
                </a:solidFill>
                <a:latin typeface="Lucida Sans"/>
                <a:cs typeface="Lucida Sans"/>
              </a:rPr>
              <a:t> </a:t>
            </a:r>
            <a:r>
              <a:rPr dirty="0" sz="3600" spc="75">
                <a:solidFill>
                  <a:srgbClr val="63392D"/>
                </a:solidFill>
                <a:latin typeface="Lucida Sans"/>
                <a:cs typeface="Lucida Sans"/>
              </a:rPr>
              <a:t>Dhruv</a:t>
            </a:r>
            <a:r>
              <a:rPr dirty="0" sz="3600" spc="-200">
                <a:solidFill>
                  <a:srgbClr val="63392D"/>
                </a:solidFill>
                <a:latin typeface="Lucida Sans"/>
                <a:cs typeface="Lucida Sans"/>
              </a:rPr>
              <a:t> </a:t>
            </a:r>
            <a:r>
              <a:rPr dirty="0" sz="3600" spc="-10">
                <a:solidFill>
                  <a:srgbClr val="63392D"/>
                </a:solidFill>
                <a:latin typeface="Lucida Sans"/>
                <a:cs typeface="Lucida Sans"/>
              </a:rPr>
              <a:t>Gujar</a:t>
            </a:r>
            <a:endParaRPr sz="36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365F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6B6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0569" y="1224488"/>
            <a:ext cx="161925" cy="1619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0569" y="2424638"/>
            <a:ext cx="161925" cy="1619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0569" y="3624788"/>
            <a:ext cx="161925" cy="1619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0569" y="4824938"/>
            <a:ext cx="161925" cy="1619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0569" y="6025088"/>
            <a:ext cx="161925" cy="1619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10569" y="7225238"/>
            <a:ext cx="161925" cy="1619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0569" y="8425388"/>
            <a:ext cx="161925" cy="16192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989436" y="952498"/>
            <a:ext cx="9537065" cy="8426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00150">
              <a:lnSpc>
                <a:spcPct val="107900"/>
              </a:lnSpc>
              <a:spcBef>
                <a:spcPts val="95"/>
              </a:spcBef>
            </a:pPr>
            <a:r>
              <a:rPr dirty="0" sz="3650" spc="75">
                <a:latin typeface="Lucida Sans"/>
                <a:cs typeface="Lucida Sans"/>
              </a:rPr>
              <a:t>Understand</a:t>
            </a:r>
            <a:r>
              <a:rPr dirty="0" sz="3650" spc="-190">
                <a:latin typeface="Lucida Sans"/>
                <a:cs typeface="Lucida Sans"/>
              </a:rPr>
              <a:t> </a:t>
            </a:r>
            <a:r>
              <a:rPr dirty="0" sz="3650" spc="85">
                <a:latin typeface="Lucida Sans"/>
                <a:cs typeface="Lucida Sans"/>
              </a:rPr>
              <a:t>the</a:t>
            </a:r>
            <a:r>
              <a:rPr dirty="0" sz="3650" spc="-190">
                <a:latin typeface="Lucida Sans"/>
                <a:cs typeface="Lucida Sans"/>
              </a:rPr>
              <a:t> </a:t>
            </a:r>
            <a:r>
              <a:rPr dirty="0" sz="3650" spc="55">
                <a:latin typeface="Lucida Sans"/>
                <a:cs typeface="Lucida Sans"/>
              </a:rPr>
              <a:t>blood</a:t>
            </a:r>
            <a:r>
              <a:rPr dirty="0" sz="3650" spc="-190">
                <a:latin typeface="Lucida Sans"/>
                <a:cs typeface="Lucida Sans"/>
              </a:rPr>
              <a:t> </a:t>
            </a:r>
            <a:r>
              <a:rPr dirty="0" sz="3650" spc="-20">
                <a:latin typeface="Lucida Sans"/>
                <a:cs typeface="Lucida Sans"/>
              </a:rPr>
              <a:t>bank</a:t>
            </a:r>
            <a:r>
              <a:rPr dirty="0" sz="3650" spc="-190">
                <a:latin typeface="Lucida Sans"/>
                <a:cs typeface="Lucida Sans"/>
              </a:rPr>
              <a:t> </a:t>
            </a:r>
            <a:r>
              <a:rPr dirty="0" sz="3650" spc="40">
                <a:latin typeface="Lucida Sans"/>
                <a:cs typeface="Lucida Sans"/>
              </a:rPr>
              <a:t>problem </a:t>
            </a:r>
            <a:r>
              <a:rPr dirty="0" sz="3650" spc="-10">
                <a:latin typeface="Lucida Sans"/>
                <a:cs typeface="Lucida Sans"/>
              </a:rPr>
              <a:t>domain</a:t>
            </a:r>
            <a:endParaRPr sz="3650">
              <a:latin typeface="Lucida Sans"/>
              <a:cs typeface="Lucida Sans"/>
            </a:endParaRPr>
          </a:p>
          <a:p>
            <a:pPr marL="12700" marR="1856739">
              <a:lnSpc>
                <a:spcPts val="4730"/>
              </a:lnSpc>
              <a:spcBef>
                <a:spcPts val="210"/>
              </a:spcBef>
            </a:pPr>
            <a:r>
              <a:rPr dirty="0" sz="3650">
                <a:latin typeface="Lucida Sans"/>
                <a:cs typeface="Lucida Sans"/>
              </a:rPr>
              <a:t>Explore</a:t>
            </a:r>
            <a:r>
              <a:rPr dirty="0" sz="3650" spc="-90">
                <a:latin typeface="Lucida Sans"/>
                <a:cs typeface="Lucida Sans"/>
              </a:rPr>
              <a:t> </a:t>
            </a:r>
            <a:r>
              <a:rPr dirty="0" sz="3650" spc="85">
                <a:latin typeface="Lucida Sans"/>
                <a:cs typeface="Lucida Sans"/>
              </a:rPr>
              <a:t>the</a:t>
            </a:r>
            <a:r>
              <a:rPr dirty="0" sz="3650" spc="-90">
                <a:latin typeface="Lucida Sans"/>
                <a:cs typeface="Lucida Sans"/>
              </a:rPr>
              <a:t> </a:t>
            </a:r>
            <a:r>
              <a:rPr dirty="0" sz="3650" spc="80">
                <a:latin typeface="Lucida Sans"/>
                <a:cs typeface="Lucida Sans"/>
              </a:rPr>
              <a:t>dataset</a:t>
            </a:r>
            <a:r>
              <a:rPr dirty="0" sz="3650" spc="-90">
                <a:latin typeface="Lucida Sans"/>
                <a:cs typeface="Lucida Sans"/>
              </a:rPr>
              <a:t> </a:t>
            </a:r>
            <a:r>
              <a:rPr dirty="0" sz="3650">
                <a:latin typeface="Lucida Sans"/>
                <a:cs typeface="Lucida Sans"/>
              </a:rPr>
              <a:t>and</a:t>
            </a:r>
            <a:r>
              <a:rPr dirty="0" sz="3650" spc="-85">
                <a:latin typeface="Lucida Sans"/>
                <a:cs typeface="Lucida Sans"/>
              </a:rPr>
              <a:t> </a:t>
            </a:r>
            <a:r>
              <a:rPr dirty="0" sz="3650" spc="55">
                <a:latin typeface="Lucida Sans"/>
                <a:cs typeface="Lucida Sans"/>
              </a:rPr>
              <a:t>database </a:t>
            </a:r>
            <a:r>
              <a:rPr dirty="0" sz="3650" spc="70">
                <a:latin typeface="Lucida Sans"/>
                <a:cs typeface="Lucida Sans"/>
              </a:rPr>
              <a:t>structure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50">
                <a:latin typeface="Lucida Sans"/>
                <a:cs typeface="Lucida Sans"/>
              </a:rPr>
              <a:t>Analyze</a:t>
            </a:r>
            <a:r>
              <a:rPr dirty="0" sz="3650" spc="-140">
                <a:latin typeface="Lucida Sans"/>
                <a:cs typeface="Lucida Sans"/>
              </a:rPr>
              <a:t> </a:t>
            </a:r>
            <a:r>
              <a:rPr dirty="0" sz="3650" spc="55">
                <a:latin typeface="Lucida Sans"/>
                <a:cs typeface="Lucida Sans"/>
              </a:rPr>
              <a:t>blood</a:t>
            </a:r>
            <a:r>
              <a:rPr dirty="0" sz="3650" spc="-140">
                <a:latin typeface="Lucida Sans"/>
                <a:cs typeface="Lucida Sans"/>
              </a:rPr>
              <a:t> </a:t>
            </a:r>
            <a:r>
              <a:rPr dirty="0" sz="3650" spc="65">
                <a:latin typeface="Lucida Sans"/>
                <a:cs typeface="Lucida Sans"/>
              </a:rPr>
              <a:t>availability</a:t>
            </a:r>
            <a:r>
              <a:rPr dirty="0" sz="3650" spc="-140">
                <a:latin typeface="Lucida Sans"/>
                <a:cs typeface="Lucida Sans"/>
              </a:rPr>
              <a:t> </a:t>
            </a:r>
            <a:r>
              <a:rPr dirty="0" sz="3650">
                <a:latin typeface="Lucida Sans"/>
                <a:cs typeface="Lucida Sans"/>
              </a:rPr>
              <a:t>and</a:t>
            </a:r>
            <a:r>
              <a:rPr dirty="0" sz="3650" spc="-140">
                <a:latin typeface="Lucida Sans"/>
                <a:cs typeface="Lucida Sans"/>
              </a:rPr>
              <a:t> </a:t>
            </a:r>
            <a:r>
              <a:rPr dirty="0" sz="3650" spc="35">
                <a:latin typeface="Lucida Sans"/>
                <a:cs typeface="Lucida Sans"/>
              </a:rPr>
              <a:t>hospital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3650">
                <a:latin typeface="Lucida Sans"/>
                <a:cs typeface="Lucida Sans"/>
              </a:rPr>
              <a:t>demand</a:t>
            </a:r>
            <a:r>
              <a:rPr dirty="0" sz="3650" spc="-55">
                <a:latin typeface="Lucida Sans"/>
                <a:cs typeface="Lucida Sans"/>
              </a:rPr>
              <a:t> </a:t>
            </a:r>
            <a:r>
              <a:rPr dirty="0" sz="3650" spc="-50">
                <a:latin typeface="Lucida Sans"/>
                <a:cs typeface="Lucida Sans"/>
              </a:rPr>
              <a:t>using</a:t>
            </a:r>
            <a:r>
              <a:rPr dirty="0" sz="3650" spc="-55">
                <a:latin typeface="Lucida Sans"/>
                <a:cs typeface="Lucida Sans"/>
              </a:rPr>
              <a:t> </a:t>
            </a:r>
            <a:r>
              <a:rPr dirty="0" sz="3650" spc="135">
                <a:latin typeface="Lucida Sans"/>
                <a:cs typeface="Lucida Sans"/>
              </a:rPr>
              <a:t>SQL</a:t>
            </a:r>
            <a:endParaRPr sz="3650">
              <a:latin typeface="Lucida Sans"/>
              <a:cs typeface="Lucida Sans"/>
            </a:endParaRPr>
          </a:p>
          <a:p>
            <a:pPr marL="12700" marR="2967990">
              <a:lnSpc>
                <a:spcPts val="4730"/>
              </a:lnSpc>
              <a:spcBef>
                <a:spcPts val="210"/>
              </a:spcBef>
            </a:pPr>
            <a:r>
              <a:rPr dirty="0" sz="3650" spc="80">
                <a:latin typeface="Lucida Sans"/>
                <a:cs typeface="Lucida Sans"/>
              </a:rPr>
              <a:t>Identify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>
                <a:latin typeface="Lucida Sans"/>
                <a:cs typeface="Lucida Sans"/>
              </a:rPr>
              <a:t>shortages,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 spc="-75">
                <a:latin typeface="Lucida Sans"/>
                <a:cs typeface="Lucida Sans"/>
              </a:rPr>
              <a:t>risks,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 spc="-25">
                <a:latin typeface="Lucida Sans"/>
                <a:cs typeface="Lucida Sans"/>
              </a:rPr>
              <a:t>and </a:t>
            </a:r>
            <a:r>
              <a:rPr dirty="0" sz="3650" spc="40">
                <a:latin typeface="Lucida Sans"/>
                <a:cs typeface="Lucida Sans"/>
              </a:rPr>
              <a:t>inefficiencies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50" spc="75">
                <a:latin typeface="Lucida Sans"/>
                <a:cs typeface="Lucida Sans"/>
              </a:rPr>
              <a:t>Derive</a:t>
            </a:r>
            <a:r>
              <a:rPr dirty="0" sz="3650" spc="-185">
                <a:latin typeface="Lucida Sans"/>
                <a:cs typeface="Lucida Sans"/>
              </a:rPr>
              <a:t> </a:t>
            </a:r>
            <a:r>
              <a:rPr dirty="0" sz="3650" spc="114">
                <a:latin typeface="Lucida Sans"/>
                <a:cs typeface="Lucida Sans"/>
              </a:rPr>
              <a:t>data-</a:t>
            </a:r>
            <a:r>
              <a:rPr dirty="0" sz="3650" spc="70">
                <a:latin typeface="Lucida Sans"/>
                <a:cs typeface="Lucida Sans"/>
              </a:rPr>
              <a:t>driven</a:t>
            </a:r>
            <a:r>
              <a:rPr dirty="0" sz="3650" spc="-180">
                <a:latin typeface="Lucida Sans"/>
                <a:cs typeface="Lucida Sans"/>
              </a:rPr>
              <a:t> </a:t>
            </a:r>
            <a:r>
              <a:rPr dirty="0" sz="3650" spc="-10">
                <a:latin typeface="Lucida Sans"/>
                <a:cs typeface="Lucida Sans"/>
              </a:rPr>
              <a:t>insights</a:t>
            </a:r>
            <a:r>
              <a:rPr dirty="0" sz="3650" spc="-180">
                <a:latin typeface="Lucida Sans"/>
                <a:cs typeface="Lucida Sans"/>
              </a:rPr>
              <a:t> </a:t>
            </a:r>
            <a:r>
              <a:rPr dirty="0" sz="3650" spc="60">
                <a:latin typeface="Lucida Sans"/>
                <a:cs typeface="Lucida Sans"/>
              </a:rPr>
              <a:t>for</a:t>
            </a:r>
            <a:r>
              <a:rPr dirty="0" sz="3650" spc="-180">
                <a:latin typeface="Lucida Sans"/>
                <a:cs typeface="Lucida Sans"/>
              </a:rPr>
              <a:t> </a:t>
            </a:r>
            <a:r>
              <a:rPr dirty="0" sz="3650" spc="95">
                <a:latin typeface="Lucida Sans"/>
                <a:cs typeface="Lucida Sans"/>
              </a:rPr>
              <a:t>better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3650" spc="65">
                <a:latin typeface="Lucida Sans"/>
                <a:cs typeface="Lucida Sans"/>
              </a:rPr>
              <a:t>decision-</a:t>
            </a:r>
            <a:r>
              <a:rPr dirty="0" sz="3650" spc="-10">
                <a:latin typeface="Lucida Sans"/>
                <a:cs typeface="Lucida Sans"/>
              </a:rPr>
              <a:t>making</a:t>
            </a:r>
            <a:endParaRPr sz="3650">
              <a:latin typeface="Lucida Sans"/>
              <a:cs typeface="Lucida Sans"/>
            </a:endParaRPr>
          </a:p>
          <a:p>
            <a:pPr marL="12700" marR="5080">
              <a:lnSpc>
                <a:spcPts val="4730"/>
              </a:lnSpc>
              <a:spcBef>
                <a:spcPts val="210"/>
              </a:spcBef>
            </a:pPr>
            <a:r>
              <a:rPr dirty="0" sz="3650">
                <a:latin typeface="Lucida Sans"/>
                <a:cs typeface="Lucida Sans"/>
              </a:rPr>
              <a:t>Suggest</a:t>
            </a:r>
            <a:r>
              <a:rPr dirty="0" sz="3650" spc="-135">
                <a:latin typeface="Lucida Sans"/>
                <a:cs typeface="Lucida Sans"/>
              </a:rPr>
              <a:t> </a:t>
            </a:r>
            <a:r>
              <a:rPr dirty="0" sz="3650" spc="55">
                <a:latin typeface="Lucida Sans"/>
                <a:cs typeface="Lucida Sans"/>
              </a:rPr>
              <a:t>operational</a:t>
            </a:r>
            <a:r>
              <a:rPr dirty="0" sz="3650" spc="-135">
                <a:latin typeface="Lucida Sans"/>
                <a:cs typeface="Lucida Sans"/>
              </a:rPr>
              <a:t> </a:t>
            </a:r>
            <a:r>
              <a:rPr dirty="0" sz="3650" spc="55">
                <a:latin typeface="Lucida Sans"/>
                <a:cs typeface="Lucida Sans"/>
              </a:rPr>
              <a:t>improvements</a:t>
            </a:r>
            <a:r>
              <a:rPr dirty="0" sz="3650" spc="-135">
                <a:latin typeface="Lucida Sans"/>
                <a:cs typeface="Lucida Sans"/>
              </a:rPr>
              <a:t> </a:t>
            </a:r>
            <a:r>
              <a:rPr dirty="0" sz="3650" spc="35">
                <a:latin typeface="Lucida Sans"/>
                <a:cs typeface="Lucida Sans"/>
              </a:rPr>
              <a:t>based </a:t>
            </a:r>
            <a:r>
              <a:rPr dirty="0" sz="3650">
                <a:latin typeface="Lucida Sans"/>
                <a:cs typeface="Lucida Sans"/>
              </a:rPr>
              <a:t>on</a:t>
            </a:r>
            <a:r>
              <a:rPr dirty="0" sz="3650" spc="-130">
                <a:latin typeface="Lucida Sans"/>
                <a:cs typeface="Lucida Sans"/>
              </a:rPr>
              <a:t> </a:t>
            </a:r>
            <a:r>
              <a:rPr dirty="0" sz="3650" spc="-10">
                <a:latin typeface="Lucida Sans"/>
                <a:cs typeface="Lucida Sans"/>
              </a:rPr>
              <a:t>analysis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50">
                <a:latin typeface="Lucida Sans"/>
                <a:cs typeface="Lucida Sans"/>
              </a:rPr>
              <a:t>Summarize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>
                <a:latin typeface="Lucida Sans"/>
                <a:cs typeface="Lucida Sans"/>
              </a:rPr>
              <a:t>findings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>
                <a:latin typeface="Lucida Sans"/>
                <a:cs typeface="Lucida Sans"/>
              </a:rPr>
              <a:t>and</a:t>
            </a:r>
            <a:r>
              <a:rPr dirty="0" sz="3650" spc="-150">
                <a:latin typeface="Lucida Sans"/>
                <a:cs typeface="Lucida Sans"/>
              </a:rPr>
              <a:t> </a:t>
            </a:r>
            <a:r>
              <a:rPr dirty="0" sz="3650" spc="80">
                <a:latin typeface="Lucida Sans"/>
                <a:cs typeface="Lucida Sans"/>
              </a:rPr>
              <a:t>conclude</a:t>
            </a:r>
            <a:r>
              <a:rPr dirty="0" sz="3650" spc="-155">
                <a:latin typeface="Lucida Sans"/>
                <a:cs typeface="Lucida Sans"/>
              </a:rPr>
              <a:t> </a:t>
            </a:r>
            <a:r>
              <a:rPr dirty="0" sz="3650" spc="60">
                <a:latin typeface="Lucida Sans"/>
                <a:cs typeface="Lucida Sans"/>
              </a:rPr>
              <a:t>the</a:t>
            </a:r>
            <a:endParaRPr sz="3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3650" spc="60">
                <a:latin typeface="Lucida Sans"/>
                <a:cs typeface="Lucida Sans"/>
              </a:rPr>
              <a:t>project</a:t>
            </a:r>
            <a:endParaRPr sz="3650">
              <a:latin typeface="Lucida Sans"/>
              <a:cs typeface="Lucida San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87917" y="2254468"/>
            <a:ext cx="3476639" cy="347662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45443" y="53748"/>
            <a:ext cx="4725035" cy="7677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850" spc="-240">
                <a:solidFill>
                  <a:srgbClr val="365FB3"/>
                </a:solidFill>
              </a:rPr>
              <a:t>Project</a:t>
            </a:r>
            <a:r>
              <a:rPr dirty="0" sz="4850" spc="-355">
                <a:solidFill>
                  <a:srgbClr val="365FB3"/>
                </a:solidFill>
              </a:rPr>
              <a:t> </a:t>
            </a:r>
            <a:r>
              <a:rPr dirty="0" sz="4850" spc="-325">
                <a:solidFill>
                  <a:srgbClr val="365FB3"/>
                </a:solidFill>
              </a:rPr>
              <a:t>Agenda</a:t>
            </a:r>
            <a:endParaRPr sz="4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4265930">
              <a:lnSpc>
                <a:spcPct val="100000"/>
              </a:lnSpc>
              <a:spcBef>
                <a:spcPts val="100"/>
              </a:spcBef>
            </a:pPr>
            <a:r>
              <a:rPr dirty="0" sz="6200" spc="-275">
                <a:solidFill>
                  <a:srgbClr val="365FB3"/>
                </a:solidFill>
              </a:rPr>
              <a:t>project</a:t>
            </a:r>
            <a:r>
              <a:rPr dirty="0" sz="6200" spc="-470">
                <a:solidFill>
                  <a:srgbClr val="365FB3"/>
                </a:solidFill>
              </a:rPr>
              <a:t> </a:t>
            </a:r>
            <a:r>
              <a:rPr dirty="0" sz="6200" spc="-360">
                <a:solidFill>
                  <a:srgbClr val="365FB3"/>
                </a:solidFill>
              </a:rPr>
              <a:t>overview</a:t>
            </a:r>
            <a:endParaRPr sz="62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2257" y="2289157"/>
            <a:ext cx="133350" cy="1333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257" y="3260707"/>
            <a:ext cx="133350" cy="1333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257" y="4718032"/>
            <a:ext cx="133350" cy="1333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257" y="6175357"/>
            <a:ext cx="133350" cy="1333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257" y="7146907"/>
            <a:ext cx="133350" cy="1333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2257" y="8118457"/>
            <a:ext cx="133350" cy="13335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490104" y="2066564"/>
            <a:ext cx="11872595" cy="6826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656590">
              <a:lnSpc>
                <a:spcPct val="108100"/>
              </a:lnSpc>
              <a:spcBef>
                <a:spcPts val="90"/>
              </a:spcBef>
            </a:pPr>
            <a:r>
              <a:rPr dirty="0" sz="2950" spc="-10">
                <a:latin typeface="Lucida Sans"/>
                <a:cs typeface="Lucida Sans"/>
              </a:rPr>
              <a:t>This</a:t>
            </a:r>
            <a:r>
              <a:rPr dirty="0" sz="2950" spc="-150">
                <a:latin typeface="Lucida Sans"/>
                <a:cs typeface="Lucida Sans"/>
              </a:rPr>
              <a:t> </a:t>
            </a:r>
            <a:r>
              <a:rPr dirty="0" sz="2950" spc="65">
                <a:latin typeface="Lucida Sans"/>
                <a:cs typeface="Lucida Sans"/>
              </a:rPr>
              <a:t>project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focuses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on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analyzing</a:t>
            </a:r>
            <a:r>
              <a:rPr dirty="0" sz="2950" spc="-15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a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105">
                <a:latin typeface="Lucida Sans"/>
                <a:cs typeface="Lucida Sans"/>
              </a:rPr>
              <a:t>Blood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Bank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40">
                <a:latin typeface="Lucida Sans"/>
                <a:cs typeface="Lucida Sans"/>
              </a:rPr>
              <a:t>Management </a:t>
            </a:r>
            <a:r>
              <a:rPr dirty="0" sz="2950" spc="110">
                <a:latin typeface="Lucida Sans"/>
                <a:cs typeface="Lucida Sans"/>
              </a:rPr>
              <a:t>System</a:t>
            </a:r>
            <a:r>
              <a:rPr dirty="0" sz="2950" spc="-175">
                <a:latin typeface="Lucida Sans"/>
                <a:cs typeface="Lucida Sans"/>
              </a:rPr>
              <a:t> </a:t>
            </a:r>
            <a:r>
              <a:rPr dirty="0" sz="2950" spc="-20">
                <a:latin typeface="Lucida Sans"/>
                <a:cs typeface="Lucida Sans"/>
              </a:rPr>
              <a:t>using</a:t>
            </a:r>
            <a:r>
              <a:rPr dirty="0" sz="2950" spc="-175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SQL.</a:t>
            </a:r>
            <a:endParaRPr sz="2950">
              <a:latin typeface="Lucida Sans"/>
              <a:cs typeface="Lucida Sans"/>
            </a:endParaRPr>
          </a:p>
          <a:p>
            <a:pPr marL="12700" marR="691515">
              <a:lnSpc>
                <a:spcPts val="3829"/>
              </a:lnSpc>
              <a:spcBef>
                <a:spcPts val="170"/>
              </a:spcBef>
            </a:pPr>
            <a:r>
              <a:rPr dirty="0" sz="2950">
                <a:latin typeface="Lucida Sans"/>
                <a:cs typeface="Lucida Sans"/>
              </a:rPr>
              <a:t>The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70">
                <a:latin typeface="Lucida Sans"/>
                <a:cs typeface="Lucida Sans"/>
              </a:rPr>
              <a:t>objective</a:t>
            </a:r>
            <a:r>
              <a:rPr dirty="0" sz="2950" spc="-14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is</a:t>
            </a:r>
            <a:r>
              <a:rPr dirty="0" sz="2950" spc="-140">
                <a:latin typeface="Lucida Sans"/>
                <a:cs typeface="Lucida Sans"/>
              </a:rPr>
              <a:t> </a:t>
            </a:r>
            <a:r>
              <a:rPr dirty="0" sz="2950" spc="80">
                <a:latin typeface="Lucida Sans"/>
                <a:cs typeface="Lucida Sans"/>
              </a:rPr>
              <a:t>to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60">
                <a:latin typeface="Lucida Sans"/>
                <a:cs typeface="Lucida Sans"/>
              </a:rPr>
              <a:t>understand</a:t>
            </a:r>
            <a:r>
              <a:rPr dirty="0" sz="2950" spc="-140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145">
                <a:latin typeface="Lucida Sans"/>
                <a:cs typeface="Lucida Sans"/>
              </a:rPr>
              <a:t> </a:t>
            </a:r>
            <a:r>
              <a:rPr dirty="0" sz="2950" spc="45">
                <a:latin typeface="Lucida Sans"/>
                <a:cs typeface="Lucida Sans"/>
              </a:rPr>
              <a:t>availability,</a:t>
            </a:r>
            <a:r>
              <a:rPr dirty="0" sz="2950" spc="-140">
                <a:latin typeface="Lucida Sans"/>
                <a:cs typeface="Lucida Sans"/>
              </a:rPr>
              <a:t> </a:t>
            </a:r>
            <a:r>
              <a:rPr dirty="0" sz="2950" spc="35">
                <a:latin typeface="Lucida Sans"/>
                <a:cs typeface="Lucida Sans"/>
              </a:rPr>
              <a:t>hospital </a:t>
            </a:r>
            <a:r>
              <a:rPr dirty="0" sz="2950">
                <a:latin typeface="Lucida Sans"/>
                <a:cs typeface="Lucida Sans"/>
              </a:rPr>
              <a:t>demand,</a:t>
            </a:r>
            <a:r>
              <a:rPr dirty="0" sz="2950" spc="-1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donor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behavior,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and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 spc="80">
                <a:latin typeface="Lucida Sans"/>
                <a:cs typeface="Lucida Sans"/>
              </a:rPr>
              <a:t>inventory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 spc="60">
                <a:latin typeface="Lucida Sans"/>
                <a:cs typeface="Lucida Sans"/>
              </a:rPr>
              <a:t>status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through</a:t>
            </a:r>
            <a:r>
              <a:rPr dirty="0" sz="2950" spc="-5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data </a:t>
            </a:r>
            <a:r>
              <a:rPr dirty="0" sz="2950" spc="-10">
                <a:latin typeface="Lucida Sans"/>
                <a:cs typeface="Lucida Sans"/>
              </a:rPr>
              <a:t>analysis.</a:t>
            </a:r>
            <a:endParaRPr sz="29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>
                <a:latin typeface="Lucida Sans"/>
                <a:cs typeface="Lucida Sans"/>
              </a:rPr>
              <a:t>A</a:t>
            </a:r>
            <a:r>
              <a:rPr dirty="0" sz="2950" spc="-5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relational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 spc="65">
                <a:latin typeface="Lucida Sans"/>
                <a:cs typeface="Lucida Sans"/>
              </a:rPr>
              <a:t>database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was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designed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containing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information</a:t>
            </a:r>
            <a:endParaRPr sz="2950">
              <a:latin typeface="Lucida Sans"/>
              <a:cs typeface="Lucida Sans"/>
            </a:endParaRPr>
          </a:p>
          <a:p>
            <a:pPr marL="12700" marR="5080">
              <a:lnSpc>
                <a:spcPts val="3829"/>
              </a:lnSpc>
              <a:spcBef>
                <a:spcPts val="170"/>
              </a:spcBef>
            </a:pPr>
            <a:r>
              <a:rPr dirty="0" sz="2950" spc="65">
                <a:latin typeface="Lucida Sans"/>
                <a:cs typeface="Lucida Sans"/>
              </a:rPr>
              <a:t>about</a:t>
            </a:r>
            <a:r>
              <a:rPr dirty="0" sz="2950" spc="-3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donors,</a:t>
            </a:r>
            <a:r>
              <a:rPr dirty="0" sz="2950" spc="-3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3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donations,</a:t>
            </a:r>
            <a:r>
              <a:rPr dirty="0" sz="2950" spc="-35">
                <a:latin typeface="Lucida Sans"/>
                <a:cs typeface="Lucida Sans"/>
              </a:rPr>
              <a:t> </a:t>
            </a:r>
            <a:r>
              <a:rPr dirty="0" sz="2950" spc="60">
                <a:latin typeface="Lucida Sans"/>
                <a:cs typeface="Lucida Sans"/>
              </a:rPr>
              <a:t>inventory,</a:t>
            </a:r>
            <a:r>
              <a:rPr dirty="0" sz="2950" spc="-3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hospitals,</a:t>
            </a:r>
            <a:r>
              <a:rPr dirty="0" sz="2950" spc="-30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recipients, </a:t>
            </a:r>
            <a:r>
              <a:rPr dirty="0" sz="2950" spc="50">
                <a:latin typeface="Lucida Sans"/>
                <a:cs typeface="Lucida Sans"/>
              </a:rPr>
              <a:t>and</a:t>
            </a:r>
            <a:r>
              <a:rPr dirty="0" sz="2950" spc="-13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135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requests.</a:t>
            </a:r>
            <a:endParaRPr sz="29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145">
                <a:latin typeface="Lucida Sans"/>
                <a:cs typeface="Lucida Sans"/>
              </a:rPr>
              <a:t>SQL</a:t>
            </a:r>
            <a:r>
              <a:rPr dirty="0" sz="2950" spc="-8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queries</a:t>
            </a:r>
            <a:r>
              <a:rPr dirty="0" sz="2950" spc="-75">
                <a:latin typeface="Lucida Sans"/>
                <a:cs typeface="Lucida Sans"/>
              </a:rPr>
              <a:t> </a:t>
            </a:r>
            <a:r>
              <a:rPr dirty="0" sz="2950" spc="70">
                <a:latin typeface="Lucida Sans"/>
                <a:cs typeface="Lucida Sans"/>
              </a:rPr>
              <a:t>were</a:t>
            </a:r>
            <a:r>
              <a:rPr dirty="0" sz="2950" spc="-8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used</a:t>
            </a:r>
            <a:r>
              <a:rPr dirty="0" sz="2950" spc="-75">
                <a:latin typeface="Lucida Sans"/>
                <a:cs typeface="Lucida Sans"/>
              </a:rPr>
              <a:t> </a:t>
            </a:r>
            <a:r>
              <a:rPr dirty="0" sz="2950" spc="80">
                <a:latin typeface="Lucida Sans"/>
                <a:cs typeface="Lucida Sans"/>
              </a:rPr>
              <a:t>to</a:t>
            </a:r>
            <a:r>
              <a:rPr dirty="0" sz="2950" spc="-80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perform</a:t>
            </a:r>
            <a:r>
              <a:rPr dirty="0" sz="2950" spc="-75">
                <a:latin typeface="Lucida Sans"/>
                <a:cs typeface="Lucida Sans"/>
              </a:rPr>
              <a:t> </a:t>
            </a:r>
            <a:r>
              <a:rPr dirty="0" sz="2950" spc="75">
                <a:latin typeface="Lucida Sans"/>
                <a:cs typeface="Lucida Sans"/>
              </a:rPr>
              <a:t>data</a:t>
            </a:r>
            <a:r>
              <a:rPr dirty="0" sz="2950" spc="-80">
                <a:latin typeface="Lucida Sans"/>
                <a:cs typeface="Lucida Sans"/>
              </a:rPr>
              <a:t> </a:t>
            </a:r>
            <a:r>
              <a:rPr dirty="0" sz="2950" spc="-20">
                <a:latin typeface="Lucida Sans"/>
                <a:cs typeface="Lucida Sans"/>
              </a:rPr>
              <a:t>aggregation,</a:t>
            </a:r>
            <a:r>
              <a:rPr dirty="0" sz="2950" spc="-75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filtering,</a:t>
            </a:r>
            <a:endParaRPr sz="2950">
              <a:latin typeface="Lucida Sans"/>
              <a:cs typeface="Lucida Sans"/>
            </a:endParaRPr>
          </a:p>
          <a:p>
            <a:pPr algn="just" marL="12700" marR="379730">
              <a:lnSpc>
                <a:spcPts val="3829"/>
              </a:lnSpc>
              <a:spcBef>
                <a:spcPts val="170"/>
              </a:spcBef>
            </a:pPr>
            <a:r>
              <a:rPr dirty="0" sz="2950" spc="50">
                <a:latin typeface="Lucida Sans"/>
                <a:cs typeface="Lucida Sans"/>
              </a:rPr>
              <a:t>and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joins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 spc="80">
                <a:latin typeface="Lucida Sans"/>
                <a:cs typeface="Lucida Sans"/>
              </a:rPr>
              <a:t>to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answer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 spc="85">
                <a:latin typeface="Lucida Sans"/>
                <a:cs typeface="Lucida Sans"/>
              </a:rPr>
              <a:t>real-</a:t>
            </a:r>
            <a:r>
              <a:rPr dirty="0" sz="2950" spc="55">
                <a:latin typeface="Lucida Sans"/>
                <a:cs typeface="Lucida Sans"/>
              </a:rPr>
              <a:t>world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 spc="75">
                <a:latin typeface="Lucida Sans"/>
                <a:cs typeface="Lucida Sans"/>
              </a:rPr>
              <a:t>healthcare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business</a:t>
            </a:r>
            <a:r>
              <a:rPr dirty="0" sz="2950" spc="-114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questions. </a:t>
            </a:r>
            <a:r>
              <a:rPr dirty="0" sz="2950">
                <a:latin typeface="Lucida Sans"/>
                <a:cs typeface="Lucida Sans"/>
              </a:rPr>
              <a:t>The</a:t>
            </a:r>
            <a:r>
              <a:rPr dirty="0" sz="2950" spc="-5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analysis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helps</a:t>
            </a:r>
            <a:r>
              <a:rPr dirty="0" sz="2950" spc="-55">
                <a:latin typeface="Lucida Sans"/>
                <a:cs typeface="Lucida Sans"/>
              </a:rPr>
              <a:t> </a:t>
            </a:r>
            <a:r>
              <a:rPr dirty="0" sz="2950" spc="65">
                <a:latin typeface="Lucida Sans"/>
                <a:cs typeface="Lucida Sans"/>
              </a:rPr>
              <a:t>identify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5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shortages,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rare</a:t>
            </a:r>
            <a:r>
              <a:rPr dirty="0" sz="2950" spc="-50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55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group </a:t>
            </a:r>
            <a:r>
              <a:rPr dirty="0" sz="2950" spc="-50">
                <a:latin typeface="Lucida Sans"/>
                <a:cs typeface="Lucida Sans"/>
              </a:rPr>
              <a:t>risks,</a:t>
            </a:r>
            <a:r>
              <a:rPr dirty="0" sz="2950" spc="-13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expired</a:t>
            </a:r>
            <a:r>
              <a:rPr dirty="0" sz="2950" spc="-125">
                <a:latin typeface="Lucida Sans"/>
                <a:cs typeface="Lucida Sans"/>
              </a:rPr>
              <a:t> </a:t>
            </a:r>
            <a:r>
              <a:rPr dirty="0" sz="2950" spc="60">
                <a:latin typeface="Lucida Sans"/>
                <a:cs typeface="Lucida Sans"/>
              </a:rPr>
              <a:t>inventory,</a:t>
            </a:r>
            <a:r>
              <a:rPr dirty="0" sz="2950" spc="-12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and</a:t>
            </a:r>
            <a:r>
              <a:rPr dirty="0" sz="2950" spc="-12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high-</a:t>
            </a:r>
            <a:r>
              <a:rPr dirty="0" sz="2950" spc="50">
                <a:latin typeface="Lucida Sans"/>
                <a:cs typeface="Lucida Sans"/>
              </a:rPr>
              <a:t>demand</a:t>
            </a:r>
            <a:r>
              <a:rPr dirty="0" sz="2950" spc="-125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hospitals.</a:t>
            </a:r>
            <a:endParaRPr sz="2950">
              <a:latin typeface="Lucida Sans"/>
              <a:cs typeface="Lucida Sans"/>
            </a:endParaRPr>
          </a:p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950">
                <a:latin typeface="Lucida Sans"/>
                <a:cs typeface="Lucida Sans"/>
              </a:rPr>
              <a:t>Insights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75">
                <a:latin typeface="Lucida Sans"/>
                <a:cs typeface="Lucida Sans"/>
              </a:rPr>
              <a:t>derived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from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80">
                <a:latin typeface="Lucida Sans"/>
                <a:cs typeface="Lucida Sans"/>
              </a:rPr>
              <a:t>the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65">
                <a:latin typeface="Lucida Sans"/>
                <a:cs typeface="Lucida Sans"/>
              </a:rPr>
              <a:t>project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55">
                <a:latin typeface="Lucida Sans"/>
                <a:cs typeface="Lucida Sans"/>
              </a:rPr>
              <a:t>support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95">
                <a:latin typeface="Lucida Sans"/>
                <a:cs typeface="Lucida Sans"/>
              </a:rPr>
              <a:t>better</a:t>
            </a:r>
            <a:r>
              <a:rPr dirty="0" sz="2950" spc="-105">
                <a:latin typeface="Lucida Sans"/>
                <a:cs typeface="Lucida Sans"/>
              </a:rPr>
              <a:t> </a:t>
            </a:r>
            <a:r>
              <a:rPr dirty="0" sz="2950" spc="45">
                <a:latin typeface="Lucida Sans"/>
                <a:cs typeface="Lucida Sans"/>
              </a:rPr>
              <a:t>decision-</a:t>
            </a:r>
            <a:endParaRPr sz="2950">
              <a:latin typeface="Lucida Sans"/>
              <a:cs typeface="Lucida Sans"/>
            </a:endParaRPr>
          </a:p>
          <a:p>
            <a:pPr algn="just" marL="12700">
              <a:lnSpc>
                <a:spcPct val="100000"/>
              </a:lnSpc>
              <a:spcBef>
                <a:spcPts val="285"/>
              </a:spcBef>
            </a:pPr>
            <a:r>
              <a:rPr dirty="0" sz="2950" spc="-60">
                <a:latin typeface="Lucida Sans"/>
                <a:cs typeface="Lucida Sans"/>
              </a:rPr>
              <a:t>making</a:t>
            </a:r>
            <a:r>
              <a:rPr dirty="0" sz="2950" spc="-100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and</a:t>
            </a:r>
            <a:r>
              <a:rPr dirty="0" sz="2950" spc="-9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operational</a:t>
            </a:r>
            <a:r>
              <a:rPr dirty="0" sz="2950" spc="-95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planning</a:t>
            </a:r>
            <a:r>
              <a:rPr dirty="0" sz="2950" spc="-100">
                <a:latin typeface="Lucida Sans"/>
                <a:cs typeface="Lucida Sans"/>
              </a:rPr>
              <a:t> </a:t>
            </a:r>
            <a:r>
              <a:rPr dirty="0" sz="2950">
                <a:latin typeface="Lucida Sans"/>
                <a:cs typeface="Lucida Sans"/>
              </a:rPr>
              <a:t>for</a:t>
            </a:r>
            <a:r>
              <a:rPr dirty="0" sz="2950" spc="-95">
                <a:latin typeface="Lucida Sans"/>
                <a:cs typeface="Lucida Sans"/>
              </a:rPr>
              <a:t> </a:t>
            </a:r>
            <a:r>
              <a:rPr dirty="0" sz="2950" spc="50">
                <a:latin typeface="Lucida Sans"/>
                <a:cs typeface="Lucida Sans"/>
              </a:rPr>
              <a:t>blood</a:t>
            </a:r>
            <a:r>
              <a:rPr dirty="0" sz="2950" spc="-95">
                <a:latin typeface="Lucida Sans"/>
                <a:cs typeface="Lucida Sans"/>
              </a:rPr>
              <a:t> </a:t>
            </a:r>
            <a:r>
              <a:rPr dirty="0" sz="2950" spc="-10">
                <a:latin typeface="Lucida Sans"/>
                <a:cs typeface="Lucida Sans"/>
              </a:rPr>
              <a:t>banks.</a:t>
            </a:r>
            <a:endParaRPr sz="29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4265930">
              <a:lnSpc>
                <a:spcPct val="100000"/>
              </a:lnSpc>
              <a:spcBef>
                <a:spcPts val="100"/>
              </a:spcBef>
            </a:pPr>
            <a:r>
              <a:rPr dirty="0" sz="6200" spc="-220">
                <a:solidFill>
                  <a:srgbClr val="365FB3"/>
                </a:solidFill>
              </a:rPr>
              <a:t>problem</a:t>
            </a:r>
            <a:r>
              <a:rPr dirty="0" sz="6200" spc="-459">
                <a:solidFill>
                  <a:srgbClr val="365FB3"/>
                </a:solidFill>
              </a:rPr>
              <a:t> </a:t>
            </a:r>
            <a:r>
              <a:rPr dirty="0" sz="6200" spc="-360">
                <a:solidFill>
                  <a:srgbClr val="365FB3"/>
                </a:solidFill>
              </a:rPr>
              <a:t>statement</a:t>
            </a:r>
            <a:endParaRPr sz="6200"/>
          </a:p>
        </p:txBody>
      </p:sp>
      <p:sp>
        <p:nvSpPr>
          <p:cNvPr id="5" name="object 5" descr=""/>
          <p:cNvSpPr txBox="1"/>
          <p:nvPr/>
        </p:nvSpPr>
        <p:spPr>
          <a:xfrm>
            <a:off x="966388" y="2221201"/>
            <a:ext cx="16461740" cy="69761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68580">
              <a:lnSpc>
                <a:spcPct val="107700"/>
              </a:lnSpc>
              <a:spcBef>
                <a:spcPts val="90"/>
              </a:spcBef>
            </a:pPr>
            <a:r>
              <a:rPr dirty="0" sz="3850" spc="145">
                <a:latin typeface="Lucida Sans"/>
                <a:cs typeface="Lucida Sans"/>
              </a:rPr>
              <a:t>Blood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banks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90">
                <a:latin typeface="Lucida Sans"/>
                <a:cs typeface="Lucida Sans"/>
              </a:rPr>
              <a:t>play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a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80">
                <a:latin typeface="Lucida Sans"/>
                <a:cs typeface="Lucida Sans"/>
              </a:rPr>
              <a:t>critical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role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in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85">
                <a:latin typeface="Lucida Sans"/>
                <a:cs typeface="Lucida Sans"/>
              </a:rPr>
              <a:t>healthcare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130">
                <a:latin typeface="Lucida Sans"/>
                <a:cs typeface="Lucida Sans"/>
              </a:rPr>
              <a:t>by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ensuring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90">
                <a:latin typeface="Lucida Sans"/>
                <a:cs typeface="Lucida Sans"/>
              </a:rPr>
              <a:t>the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timely </a:t>
            </a:r>
            <a:r>
              <a:rPr dirty="0" sz="3850" spc="70">
                <a:latin typeface="Lucida Sans"/>
                <a:cs typeface="Lucida Sans"/>
              </a:rPr>
              <a:t>availability</a:t>
            </a:r>
            <a:r>
              <a:rPr dirty="0" sz="3850" spc="-14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of</a:t>
            </a:r>
            <a:r>
              <a:rPr dirty="0" sz="3850" spc="-135">
                <a:latin typeface="Lucida Sans"/>
                <a:cs typeface="Lucida Sans"/>
              </a:rPr>
              <a:t> </a:t>
            </a:r>
            <a:r>
              <a:rPr dirty="0" sz="3850" spc="55">
                <a:latin typeface="Lucida Sans"/>
                <a:cs typeface="Lucida Sans"/>
              </a:rPr>
              <a:t>safe</a:t>
            </a:r>
            <a:r>
              <a:rPr dirty="0" sz="3850" spc="-140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blood</a:t>
            </a:r>
            <a:r>
              <a:rPr dirty="0" sz="3850" spc="-135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for</a:t>
            </a:r>
            <a:r>
              <a:rPr dirty="0" sz="3850" spc="-14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patients.</a:t>
            </a:r>
            <a:r>
              <a:rPr dirty="0" sz="3850" spc="-135">
                <a:latin typeface="Lucida Sans"/>
                <a:cs typeface="Lucida Sans"/>
              </a:rPr>
              <a:t> </a:t>
            </a:r>
            <a:r>
              <a:rPr dirty="0" sz="3850" spc="70">
                <a:latin typeface="Lucida Sans"/>
                <a:cs typeface="Lucida Sans"/>
              </a:rPr>
              <a:t>However,</a:t>
            </a:r>
            <a:r>
              <a:rPr dirty="0" sz="3850" spc="-135">
                <a:latin typeface="Lucida Sans"/>
                <a:cs typeface="Lucida Sans"/>
              </a:rPr>
              <a:t> </a:t>
            </a:r>
            <a:r>
              <a:rPr dirty="0" sz="3850" spc="-40">
                <a:latin typeface="Lucida Sans"/>
                <a:cs typeface="Lucida Sans"/>
              </a:rPr>
              <a:t>managing</a:t>
            </a:r>
            <a:r>
              <a:rPr dirty="0" sz="3850" spc="-140">
                <a:latin typeface="Lucida Sans"/>
                <a:cs typeface="Lucida Sans"/>
              </a:rPr>
              <a:t> </a:t>
            </a:r>
            <a:r>
              <a:rPr dirty="0" sz="3850" spc="55">
                <a:latin typeface="Lucida Sans"/>
                <a:cs typeface="Lucida Sans"/>
              </a:rPr>
              <a:t>blood </a:t>
            </a:r>
            <a:r>
              <a:rPr dirty="0" sz="3850" spc="95">
                <a:latin typeface="Lucida Sans"/>
                <a:cs typeface="Lucida Sans"/>
              </a:rPr>
              <a:t>inventory</a:t>
            </a:r>
            <a:r>
              <a:rPr dirty="0" sz="3850" spc="-16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is</a:t>
            </a:r>
            <a:r>
              <a:rPr dirty="0" sz="3850" spc="-15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challenging</a:t>
            </a:r>
            <a:r>
              <a:rPr dirty="0" sz="3850" spc="-155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due</a:t>
            </a:r>
            <a:r>
              <a:rPr dirty="0" sz="3850" spc="-160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to</a:t>
            </a:r>
            <a:r>
              <a:rPr dirty="0" sz="3850" spc="-155">
                <a:latin typeface="Lucida Sans"/>
                <a:cs typeface="Lucida Sans"/>
              </a:rPr>
              <a:t> </a:t>
            </a:r>
            <a:r>
              <a:rPr dirty="0" sz="3850" spc="45">
                <a:latin typeface="Lucida Sans"/>
                <a:cs typeface="Lucida Sans"/>
              </a:rPr>
              <a:t>fluctuating</a:t>
            </a:r>
            <a:r>
              <a:rPr dirty="0" sz="3850" spc="-155">
                <a:latin typeface="Lucida Sans"/>
                <a:cs typeface="Lucida Sans"/>
              </a:rPr>
              <a:t> </a:t>
            </a:r>
            <a:r>
              <a:rPr dirty="0" sz="3850" spc="45">
                <a:latin typeface="Lucida Sans"/>
                <a:cs typeface="Lucida Sans"/>
              </a:rPr>
              <a:t>hospital</a:t>
            </a:r>
            <a:r>
              <a:rPr dirty="0" sz="3850" spc="-15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demand,</a:t>
            </a:r>
            <a:r>
              <a:rPr dirty="0" sz="3850" spc="-160">
                <a:latin typeface="Lucida Sans"/>
                <a:cs typeface="Lucida Sans"/>
              </a:rPr>
              <a:t> </a:t>
            </a:r>
            <a:r>
              <a:rPr dirty="0" sz="3850" spc="35">
                <a:latin typeface="Lucida Sans"/>
                <a:cs typeface="Lucida Sans"/>
              </a:rPr>
              <a:t>limited </a:t>
            </a:r>
            <a:r>
              <a:rPr dirty="0" sz="3850" spc="70">
                <a:latin typeface="Lucida Sans"/>
                <a:cs typeface="Lucida Sans"/>
              </a:rPr>
              <a:t>availability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of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rare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blood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-20">
                <a:latin typeface="Lucida Sans"/>
                <a:cs typeface="Lucida Sans"/>
              </a:rPr>
              <a:t>groups,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blood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expiry,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50">
                <a:latin typeface="Lucida Sans"/>
                <a:cs typeface="Lucida Sans"/>
              </a:rPr>
              <a:t>and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quality-</a:t>
            </a:r>
            <a:r>
              <a:rPr dirty="0" sz="3850" spc="80">
                <a:latin typeface="Lucida Sans"/>
                <a:cs typeface="Lucida Sans"/>
              </a:rPr>
              <a:t>related </a:t>
            </a:r>
            <a:r>
              <a:rPr dirty="0" sz="3850">
                <a:latin typeface="Lucida Sans"/>
                <a:cs typeface="Lucida Sans"/>
              </a:rPr>
              <a:t>rejections.</a:t>
            </a:r>
            <a:r>
              <a:rPr dirty="0" sz="3850" spc="-75">
                <a:latin typeface="Lucida Sans"/>
                <a:cs typeface="Lucida Sans"/>
              </a:rPr>
              <a:t> </a:t>
            </a:r>
            <a:r>
              <a:rPr dirty="0" sz="3850" spc="75">
                <a:latin typeface="Lucida Sans"/>
                <a:cs typeface="Lucida Sans"/>
              </a:rPr>
              <a:t>Inefficient</a:t>
            </a:r>
            <a:r>
              <a:rPr dirty="0" sz="3850" spc="-7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tracking</a:t>
            </a:r>
            <a:r>
              <a:rPr dirty="0" sz="3850" spc="-7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of</a:t>
            </a:r>
            <a:r>
              <a:rPr dirty="0" sz="3850" spc="-75">
                <a:latin typeface="Lucida Sans"/>
                <a:cs typeface="Lucida Sans"/>
              </a:rPr>
              <a:t> </a:t>
            </a:r>
            <a:r>
              <a:rPr dirty="0" sz="3850" spc="55">
                <a:latin typeface="Lucida Sans"/>
                <a:cs typeface="Lucida Sans"/>
              </a:rPr>
              <a:t>donor</a:t>
            </a:r>
            <a:r>
              <a:rPr dirty="0" sz="3850" spc="-70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information,</a:t>
            </a:r>
            <a:r>
              <a:rPr dirty="0" sz="3850" spc="-70">
                <a:latin typeface="Lucida Sans"/>
                <a:cs typeface="Lucida Sans"/>
              </a:rPr>
              <a:t> </a:t>
            </a:r>
            <a:r>
              <a:rPr dirty="0" sz="3850" spc="85">
                <a:latin typeface="Lucida Sans"/>
                <a:cs typeface="Lucida Sans"/>
              </a:rPr>
              <a:t>inventory </a:t>
            </a:r>
            <a:r>
              <a:rPr dirty="0" sz="3850">
                <a:latin typeface="Lucida Sans"/>
                <a:cs typeface="Lucida Sans"/>
              </a:rPr>
              <a:t>status,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50">
                <a:latin typeface="Lucida Sans"/>
                <a:cs typeface="Lucida Sans"/>
              </a:rPr>
              <a:t>and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45">
                <a:latin typeface="Lucida Sans"/>
                <a:cs typeface="Lucida Sans"/>
              </a:rPr>
              <a:t>hospital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requests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85">
                <a:latin typeface="Lucida Sans"/>
                <a:cs typeface="Lucida Sans"/>
              </a:rPr>
              <a:t>can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70">
                <a:latin typeface="Lucida Sans"/>
                <a:cs typeface="Lucida Sans"/>
              </a:rPr>
              <a:t>lead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to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shortages,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wastage,</a:t>
            </a:r>
            <a:r>
              <a:rPr dirty="0" sz="3850" spc="-145">
                <a:latin typeface="Lucida Sans"/>
                <a:cs typeface="Lucida Sans"/>
              </a:rPr>
              <a:t> </a:t>
            </a:r>
            <a:r>
              <a:rPr dirty="0" sz="3850" spc="25">
                <a:latin typeface="Lucida Sans"/>
                <a:cs typeface="Lucida Sans"/>
              </a:rPr>
              <a:t>and </a:t>
            </a:r>
            <a:r>
              <a:rPr dirty="0" sz="3850" spc="100">
                <a:latin typeface="Lucida Sans"/>
                <a:cs typeface="Lucida Sans"/>
              </a:rPr>
              <a:t>delayed</a:t>
            </a:r>
            <a:r>
              <a:rPr dirty="0" sz="3850" spc="-175">
                <a:latin typeface="Lucida Sans"/>
                <a:cs typeface="Lucida Sans"/>
              </a:rPr>
              <a:t> </a:t>
            </a:r>
            <a:r>
              <a:rPr dirty="0" sz="3850" spc="75">
                <a:latin typeface="Lucida Sans"/>
                <a:cs typeface="Lucida Sans"/>
              </a:rPr>
              <a:t>patient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care.</a:t>
            </a:r>
            <a:endParaRPr sz="3850">
              <a:latin typeface="Lucida Sans"/>
              <a:cs typeface="Lucida Sans"/>
            </a:endParaRPr>
          </a:p>
          <a:p>
            <a:pPr marL="12700" marR="5080" indent="125730">
              <a:lnSpc>
                <a:spcPct val="107700"/>
              </a:lnSpc>
            </a:pPr>
            <a:r>
              <a:rPr dirty="0" sz="3850" spc="-40">
                <a:latin typeface="Lucida Sans"/>
                <a:cs typeface="Lucida Sans"/>
              </a:rPr>
              <a:t>This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75">
                <a:latin typeface="Lucida Sans"/>
                <a:cs typeface="Lucida Sans"/>
              </a:rPr>
              <a:t>project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aims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to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analyze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blood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bank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90">
                <a:latin typeface="Lucida Sans"/>
                <a:cs typeface="Lucida Sans"/>
              </a:rPr>
              <a:t>data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-40">
                <a:latin typeface="Lucida Sans"/>
                <a:cs typeface="Lucida Sans"/>
              </a:rPr>
              <a:t>using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175">
                <a:latin typeface="Lucida Sans"/>
                <a:cs typeface="Lucida Sans"/>
              </a:rPr>
              <a:t>SQL</a:t>
            </a:r>
            <a:r>
              <a:rPr dirty="0" sz="3850" spc="-195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to</a:t>
            </a:r>
            <a:r>
              <a:rPr dirty="0" sz="3850" spc="-200">
                <a:latin typeface="Lucida Sans"/>
                <a:cs typeface="Lucida Sans"/>
              </a:rPr>
              <a:t> </a:t>
            </a:r>
            <a:r>
              <a:rPr dirty="0" sz="3850" spc="65">
                <a:latin typeface="Lucida Sans"/>
                <a:cs typeface="Lucida Sans"/>
              </a:rPr>
              <a:t>identify </a:t>
            </a:r>
            <a:r>
              <a:rPr dirty="0" sz="3850" spc="70">
                <a:latin typeface="Lucida Sans"/>
                <a:cs typeface="Lucida Sans"/>
              </a:rPr>
              <a:t>availability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issues,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demand</a:t>
            </a:r>
            <a:r>
              <a:rPr dirty="0" sz="3850" spc="-160">
                <a:latin typeface="Lucida Sans"/>
                <a:cs typeface="Lucida Sans"/>
              </a:rPr>
              <a:t> </a:t>
            </a:r>
            <a:r>
              <a:rPr dirty="0" sz="3850" spc="55">
                <a:latin typeface="Lucida Sans"/>
                <a:cs typeface="Lucida Sans"/>
              </a:rPr>
              <a:t>patterns,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operational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 spc="-75">
                <a:latin typeface="Lucida Sans"/>
                <a:cs typeface="Lucida Sans"/>
              </a:rPr>
              <a:t>risks,</a:t>
            </a:r>
            <a:r>
              <a:rPr dirty="0" sz="3850" spc="-160">
                <a:latin typeface="Lucida Sans"/>
                <a:cs typeface="Lucida Sans"/>
              </a:rPr>
              <a:t> </a:t>
            </a:r>
            <a:r>
              <a:rPr dirty="0" sz="3850" spc="50">
                <a:latin typeface="Lucida Sans"/>
                <a:cs typeface="Lucida Sans"/>
              </a:rPr>
              <a:t>and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>
                <a:latin typeface="Lucida Sans"/>
                <a:cs typeface="Lucida Sans"/>
              </a:rPr>
              <a:t>areas</a:t>
            </a:r>
            <a:r>
              <a:rPr dirty="0" sz="3850" spc="-165">
                <a:latin typeface="Lucida Sans"/>
                <a:cs typeface="Lucida Sans"/>
              </a:rPr>
              <a:t> </a:t>
            </a:r>
            <a:r>
              <a:rPr dirty="0" sz="3850" spc="40">
                <a:latin typeface="Lucida Sans"/>
                <a:cs typeface="Lucida Sans"/>
              </a:rPr>
              <a:t>for </a:t>
            </a:r>
            <a:r>
              <a:rPr dirty="0" sz="3850" spc="70">
                <a:latin typeface="Lucida Sans"/>
                <a:cs typeface="Lucida Sans"/>
              </a:rPr>
              <a:t>improvement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100">
                <a:latin typeface="Lucida Sans"/>
                <a:cs typeface="Lucida Sans"/>
              </a:rPr>
              <a:t>to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60">
                <a:latin typeface="Lucida Sans"/>
                <a:cs typeface="Lucida Sans"/>
              </a:rPr>
              <a:t>support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110">
                <a:latin typeface="Lucida Sans"/>
                <a:cs typeface="Lucida Sans"/>
              </a:rPr>
              <a:t>better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70">
                <a:latin typeface="Lucida Sans"/>
                <a:cs typeface="Lucida Sans"/>
              </a:rPr>
              <a:t>decision-</a:t>
            </a:r>
            <a:r>
              <a:rPr dirty="0" sz="3850" spc="-80">
                <a:latin typeface="Lucida Sans"/>
                <a:cs typeface="Lucida Sans"/>
              </a:rPr>
              <a:t>making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50">
                <a:latin typeface="Lucida Sans"/>
                <a:cs typeface="Lucida Sans"/>
              </a:rPr>
              <a:t>and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75">
                <a:latin typeface="Lucida Sans"/>
                <a:cs typeface="Lucida Sans"/>
              </a:rPr>
              <a:t>efficient</a:t>
            </a:r>
            <a:r>
              <a:rPr dirty="0" sz="3850" spc="-170">
                <a:latin typeface="Lucida Sans"/>
                <a:cs typeface="Lucida Sans"/>
              </a:rPr>
              <a:t> </a:t>
            </a:r>
            <a:r>
              <a:rPr dirty="0" sz="3850" spc="55">
                <a:latin typeface="Lucida Sans"/>
                <a:cs typeface="Lucida Sans"/>
              </a:rPr>
              <a:t>blood </a:t>
            </a:r>
            <a:r>
              <a:rPr dirty="0" sz="3850" spc="-10">
                <a:latin typeface="Lucida Sans"/>
                <a:cs typeface="Lucida Sans"/>
              </a:rPr>
              <a:t>bank</a:t>
            </a:r>
            <a:r>
              <a:rPr dirty="0" sz="3850" spc="-295">
                <a:latin typeface="Lucida Sans"/>
                <a:cs typeface="Lucida Sans"/>
              </a:rPr>
              <a:t> </a:t>
            </a:r>
            <a:r>
              <a:rPr dirty="0" sz="3850" spc="-10">
                <a:latin typeface="Lucida Sans"/>
                <a:cs typeface="Lucida Sans"/>
              </a:rPr>
              <a:t>management.</a:t>
            </a:r>
            <a:endParaRPr sz="3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39" y="1822152"/>
            <a:ext cx="6905640" cy="311465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4542" y="1503486"/>
            <a:ext cx="6229349" cy="300988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39" y="6100023"/>
            <a:ext cx="4019549" cy="33432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8476" y="5243199"/>
            <a:ext cx="7324739" cy="40195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38958" y="6217188"/>
            <a:ext cx="5514990" cy="311468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68074" y="1715200"/>
            <a:ext cx="3809999" cy="28003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67145">
              <a:lnSpc>
                <a:spcPct val="100000"/>
              </a:lnSpc>
              <a:spcBef>
                <a:spcPts val="100"/>
              </a:spcBef>
            </a:pPr>
            <a:r>
              <a:rPr dirty="0" sz="6200" spc="-355">
                <a:solidFill>
                  <a:srgbClr val="365FB3"/>
                </a:solidFill>
              </a:rPr>
              <a:t>tables</a:t>
            </a:r>
            <a:endParaRPr sz="6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6902" y="1657105"/>
            <a:ext cx="12830189" cy="81533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525770">
              <a:lnSpc>
                <a:spcPct val="100000"/>
              </a:lnSpc>
              <a:spcBef>
                <a:spcPts val="100"/>
              </a:spcBef>
            </a:pPr>
            <a:r>
              <a:rPr dirty="0" sz="6200" spc="-670">
                <a:solidFill>
                  <a:srgbClr val="365FB3"/>
                </a:solidFill>
              </a:rPr>
              <a:t>ER</a:t>
            </a:r>
            <a:r>
              <a:rPr dirty="0" sz="6200" spc="-480">
                <a:solidFill>
                  <a:srgbClr val="365FB3"/>
                </a:solidFill>
              </a:rPr>
              <a:t> </a:t>
            </a:r>
            <a:r>
              <a:rPr dirty="0" sz="6200" spc="-375">
                <a:solidFill>
                  <a:srgbClr val="365FB3"/>
                </a:solidFill>
              </a:rPr>
              <a:t>Diagram</a:t>
            </a:r>
            <a:endParaRPr sz="6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622" y="2870795"/>
            <a:ext cx="13106399" cy="131444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6493" y="4678740"/>
            <a:ext cx="7400909" cy="52768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6174" y="6144249"/>
            <a:ext cx="3267090" cy="3400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5549" y="1465206"/>
            <a:ext cx="14937740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 indent="99695">
              <a:lnSpc>
                <a:spcPts val="3150"/>
              </a:lnSpc>
              <a:spcBef>
                <a:spcPts val="780"/>
              </a:spcBef>
            </a:pPr>
            <a:r>
              <a:rPr dirty="0" spc="-315"/>
              <a:t>1.</a:t>
            </a:r>
            <a:r>
              <a:rPr dirty="0" spc="-229"/>
              <a:t> </a:t>
            </a:r>
            <a:r>
              <a:rPr dirty="0" spc="-254"/>
              <a:t>How</a:t>
            </a:r>
            <a:r>
              <a:rPr dirty="0" spc="-225"/>
              <a:t> </a:t>
            </a:r>
            <a:r>
              <a:rPr dirty="0" spc="-180"/>
              <a:t>many</a:t>
            </a:r>
            <a:r>
              <a:rPr dirty="0" spc="-225"/>
              <a:t> </a:t>
            </a:r>
            <a:r>
              <a:rPr dirty="0" spc="-90"/>
              <a:t>blood</a:t>
            </a:r>
            <a:r>
              <a:rPr dirty="0" spc="-225"/>
              <a:t> </a:t>
            </a:r>
            <a:r>
              <a:rPr dirty="0" spc="-160"/>
              <a:t>units</a:t>
            </a:r>
            <a:r>
              <a:rPr dirty="0" spc="-225"/>
              <a:t> </a:t>
            </a:r>
            <a:r>
              <a:rPr dirty="0" spc="-210"/>
              <a:t>are</a:t>
            </a:r>
            <a:r>
              <a:rPr dirty="0" spc="-225"/>
              <a:t> </a:t>
            </a:r>
            <a:r>
              <a:rPr dirty="0" spc="-135"/>
              <a:t>currently</a:t>
            </a:r>
            <a:r>
              <a:rPr dirty="0" spc="-225"/>
              <a:t> </a:t>
            </a:r>
            <a:r>
              <a:rPr dirty="0" spc="-170"/>
              <a:t>available</a:t>
            </a:r>
            <a:r>
              <a:rPr dirty="0" spc="-225"/>
              <a:t> </a:t>
            </a:r>
            <a:r>
              <a:rPr dirty="0" spc="-65"/>
              <a:t>for</a:t>
            </a:r>
            <a:r>
              <a:rPr dirty="0" spc="-225"/>
              <a:t> </a:t>
            </a:r>
            <a:r>
              <a:rPr dirty="0" spc="-254"/>
              <a:t>each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5"/>
              <a:t> </a:t>
            </a:r>
            <a:r>
              <a:rPr dirty="0" spc="-145"/>
              <a:t>group</a:t>
            </a:r>
            <a:r>
              <a:rPr dirty="0" spc="-225"/>
              <a:t> </a:t>
            </a:r>
            <a:r>
              <a:rPr dirty="0" spc="-25"/>
              <a:t>and </a:t>
            </a:r>
            <a:r>
              <a:rPr dirty="0" spc="-70"/>
              <a:t>component?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611" y="2099035"/>
            <a:ext cx="10410839" cy="182879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9965" y="5143499"/>
            <a:ext cx="8505809" cy="391479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7409" y="5143499"/>
            <a:ext cx="3390899" cy="3200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9823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60"/>
              <a:t>2.</a:t>
            </a:r>
            <a:r>
              <a:rPr dirty="0" spc="-229"/>
              <a:t> </a:t>
            </a:r>
            <a:r>
              <a:rPr dirty="0" spc="-195"/>
              <a:t>Are</a:t>
            </a:r>
            <a:r>
              <a:rPr dirty="0" spc="-229"/>
              <a:t> </a:t>
            </a:r>
            <a:r>
              <a:rPr dirty="0" spc="-155"/>
              <a:t>there</a:t>
            </a:r>
            <a:r>
              <a:rPr dirty="0" spc="-229"/>
              <a:t> </a:t>
            </a:r>
            <a:r>
              <a:rPr dirty="0" spc="-170"/>
              <a:t>any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9"/>
              <a:t> </a:t>
            </a:r>
            <a:r>
              <a:rPr dirty="0" spc="-180"/>
              <a:t>groups</a:t>
            </a:r>
            <a:r>
              <a:rPr dirty="0" spc="-229"/>
              <a:t> </a:t>
            </a:r>
            <a:r>
              <a:rPr dirty="0" spc="-150"/>
              <a:t>(including</a:t>
            </a:r>
            <a:r>
              <a:rPr dirty="0" spc="-229"/>
              <a:t> </a:t>
            </a:r>
            <a:r>
              <a:rPr dirty="0" spc="-175"/>
              <a:t>rare</a:t>
            </a:r>
            <a:r>
              <a:rPr dirty="0" spc="-229"/>
              <a:t> </a:t>
            </a:r>
            <a:r>
              <a:rPr dirty="0" spc="-180"/>
              <a:t>groups</a:t>
            </a:r>
            <a:r>
              <a:rPr dirty="0" spc="-229"/>
              <a:t> </a:t>
            </a:r>
            <a:r>
              <a:rPr dirty="0" spc="-210"/>
              <a:t>like</a:t>
            </a:r>
            <a:r>
              <a:rPr dirty="0" spc="-229"/>
              <a:t> </a:t>
            </a:r>
            <a:r>
              <a:rPr dirty="0" spc="-254"/>
              <a:t>A2,</a:t>
            </a:r>
            <a:r>
              <a:rPr dirty="0" spc="-229"/>
              <a:t> </a:t>
            </a:r>
            <a:r>
              <a:rPr dirty="0" spc="-254"/>
              <a:t>A2B,</a:t>
            </a:r>
            <a:r>
              <a:rPr dirty="0" spc="-225"/>
              <a:t> </a:t>
            </a:r>
            <a:r>
              <a:rPr dirty="0" spc="-110"/>
              <a:t>hh)</a:t>
            </a:r>
            <a:r>
              <a:rPr dirty="0" spc="-229"/>
              <a:t> </a:t>
            </a:r>
            <a:r>
              <a:rPr dirty="0" spc="-145"/>
              <a:t>that</a:t>
            </a:r>
            <a:r>
              <a:rPr dirty="0" spc="-229"/>
              <a:t> </a:t>
            </a:r>
            <a:r>
              <a:rPr dirty="0" spc="-25"/>
              <a:t>are </a:t>
            </a:r>
            <a:r>
              <a:rPr dirty="0" spc="-155"/>
              <a:t>critically</a:t>
            </a:r>
            <a:r>
              <a:rPr dirty="0" spc="-229"/>
              <a:t> low </a:t>
            </a:r>
            <a:r>
              <a:rPr dirty="0" spc="-120"/>
              <a:t>in</a:t>
            </a:r>
            <a:r>
              <a:rPr dirty="0" spc="-229"/>
              <a:t> </a:t>
            </a:r>
            <a:r>
              <a:rPr dirty="0" spc="-280"/>
              <a:t>stock?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2200290"/>
            <a:ext cx="8524890" cy="23812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8297" y="5415686"/>
            <a:ext cx="5810222" cy="41338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8130" y="6106134"/>
            <a:ext cx="2752724" cy="27527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875436"/>
            <a:ext cx="14366875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35"/>
              <a:t>3.How</a:t>
            </a:r>
            <a:r>
              <a:rPr dirty="0" spc="-229"/>
              <a:t> </a:t>
            </a:r>
            <a:r>
              <a:rPr dirty="0" spc="-180"/>
              <a:t>many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9"/>
              <a:t> </a:t>
            </a:r>
            <a:r>
              <a:rPr dirty="0" spc="-160"/>
              <a:t>units</a:t>
            </a:r>
            <a:r>
              <a:rPr dirty="0" spc="-229"/>
              <a:t> </a:t>
            </a:r>
            <a:r>
              <a:rPr dirty="0" spc="-185"/>
              <a:t>have</a:t>
            </a:r>
            <a:r>
              <a:rPr dirty="0" spc="-235"/>
              <a:t> </a:t>
            </a:r>
            <a:r>
              <a:rPr dirty="0" spc="-185"/>
              <a:t>expired</a:t>
            </a:r>
            <a:r>
              <a:rPr dirty="0" spc="-229"/>
              <a:t> </a:t>
            </a:r>
            <a:r>
              <a:rPr dirty="0" spc="-160"/>
              <a:t>and</a:t>
            </a:r>
            <a:r>
              <a:rPr dirty="0" spc="-229"/>
              <a:t> </a:t>
            </a:r>
            <a:r>
              <a:rPr dirty="0" spc="-245"/>
              <a:t>how</a:t>
            </a:r>
            <a:r>
              <a:rPr dirty="0" spc="-229"/>
              <a:t> </a:t>
            </a:r>
            <a:r>
              <a:rPr dirty="0" spc="-180"/>
              <a:t>many</a:t>
            </a:r>
            <a:r>
              <a:rPr dirty="0" spc="-229"/>
              <a:t> </a:t>
            </a:r>
            <a:r>
              <a:rPr dirty="0" spc="-210"/>
              <a:t>are</a:t>
            </a:r>
            <a:r>
              <a:rPr dirty="0" spc="-229"/>
              <a:t> </a:t>
            </a:r>
            <a:r>
              <a:rPr dirty="0" spc="-185"/>
              <a:t>nearing</a:t>
            </a:r>
            <a:r>
              <a:rPr dirty="0" spc="-229"/>
              <a:t> </a:t>
            </a:r>
            <a:r>
              <a:rPr dirty="0" spc="-75"/>
              <a:t>expiry </a:t>
            </a:r>
            <a:r>
              <a:rPr dirty="0" spc="-160"/>
              <a:t>(within</a:t>
            </a:r>
            <a:r>
              <a:rPr dirty="0" spc="-240"/>
              <a:t> </a:t>
            </a:r>
            <a:r>
              <a:rPr dirty="0" spc="-150"/>
              <a:t>the</a:t>
            </a:r>
            <a:r>
              <a:rPr dirty="0" spc="-240"/>
              <a:t> </a:t>
            </a:r>
            <a:r>
              <a:rPr dirty="0" spc="-229"/>
              <a:t>next</a:t>
            </a:r>
            <a:r>
              <a:rPr dirty="0" spc="-240"/>
              <a:t> </a:t>
            </a:r>
            <a:r>
              <a:rPr dirty="0" spc="-535"/>
              <a:t>7</a:t>
            </a:r>
            <a:r>
              <a:rPr dirty="0" spc="-235"/>
              <a:t> </a:t>
            </a:r>
            <a:r>
              <a:rPr dirty="0" spc="-10"/>
              <a:t>days)?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801538"/>
            <a:ext cx="8248649" cy="204787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9849" y="5734263"/>
            <a:ext cx="6905639" cy="3295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3148" y="5734263"/>
            <a:ext cx="3295649" cy="3295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6425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165"/>
              <a:t>4.What</a:t>
            </a:r>
            <a:r>
              <a:rPr dirty="0" spc="-220"/>
              <a:t> </a:t>
            </a:r>
            <a:r>
              <a:rPr dirty="0" spc="-204"/>
              <a:t>percentage</a:t>
            </a:r>
            <a:r>
              <a:rPr dirty="0" spc="-215"/>
              <a:t> </a:t>
            </a:r>
            <a:r>
              <a:rPr dirty="0" spc="-75"/>
              <a:t>of</a:t>
            </a:r>
            <a:r>
              <a:rPr dirty="0" spc="-220"/>
              <a:t> </a:t>
            </a:r>
            <a:r>
              <a:rPr dirty="0" spc="-150"/>
              <a:t>the</a:t>
            </a:r>
            <a:r>
              <a:rPr dirty="0" spc="-215"/>
              <a:t> </a:t>
            </a:r>
            <a:r>
              <a:rPr dirty="0" spc="-130"/>
              <a:t>total</a:t>
            </a:r>
            <a:r>
              <a:rPr dirty="0" spc="-220"/>
              <a:t> </a:t>
            </a:r>
            <a:r>
              <a:rPr dirty="0" spc="-114"/>
              <a:t>inventory</a:t>
            </a:r>
            <a:r>
              <a:rPr dirty="0" spc="-215"/>
              <a:t> </a:t>
            </a:r>
            <a:r>
              <a:rPr dirty="0" spc="-240"/>
              <a:t>is</a:t>
            </a:r>
            <a:r>
              <a:rPr dirty="0" spc="-215"/>
              <a:t> </a:t>
            </a:r>
            <a:r>
              <a:rPr dirty="0" spc="-170"/>
              <a:t>available,</a:t>
            </a:r>
            <a:r>
              <a:rPr dirty="0" spc="-220"/>
              <a:t> </a:t>
            </a:r>
            <a:r>
              <a:rPr dirty="0" spc="-204"/>
              <a:t>issued,</a:t>
            </a:r>
            <a:r>
              <a:rPr dirty="0" spc="-215"/>
              <a:t> </a:t>
            </a:r>
            <a:r>
              <a:rPr dirty="0" spc="-180"/>
              <a:t>expired,</a:t>
            </a:r>
            <a:r>
              <a:rPr dirty="0" spc="-220"/>
              <a:t> </a:t>
            </a:r>
            <a:r>
              <a:rPr dirty="0" spc="-25"/>
              <a:t>or </a:t>
            </a:r>
            <a:r>
              <a:rPr dirty="0" spc="-70"/>
              <a:t>quarantined?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738441"/>
            <a:ext cx="10658489" cy="17430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8076" y="5734263"/>
            <a:ext cx="6076949" cy="29051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0472" y="5531083"/>
            <a:ext cx="3314699" cy="33146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562038"/>
            <a:ext cx="107956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/>
              <a:t>5.How </a:t>
            </a:r>
            <a:r>
              <a:rPr dirty="0" spc="-180"/>
              <a:t>many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5"/>
              <a:t> </a:t>
            </a:r>
            <a:r>
              <a:rPr dirty="0" spc="-155"/>
              <a:t>donations</a:t>
            </a:r>
            <a:r>
              <a:rPr dirty="0" spc="-220"/>
              <a:t> </a:t>
            </a:r>
            <a:r>
              <a:rPr dirty="0" spc="-130"/>
              <a:t>failed</a:t>
            </a:r>
            <a:r>
              <a:rPr dirty="0" spc="-220"/>
              <a:t> </a:t>
            </a:r>
            <a:r>
              <a:rPr dirty="0" spc="-150"/>
              <a:t>the</a:t>
            </a:r>
            <a:r>
              <a:rPr dirty="0" spc="-225"/>
              <a:t> </a:t>
            </a:r>
            <a:r>
              <a:rPr dirty="0" spc="-120"/>
              <a:t>quality</a:t>
            </a:r>
            <a:r>
              <a:rPr dirty="0" spc="-220"/>
              <a:t> </a:t>
            </a:r>
            <a:r>
              <a:rPr dirty="0" spc="-145"/>
              <a:t>tests?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958577"/>
            <a:ext cx="11725289" cy="19335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6439265"/>
            <a:ext cx="6734189" cy="18668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6193" y="5935568"/>
            <a:ext cx="2867024" cy="28670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0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5.What</a:t>
            </a:r>
            <a:r>
              <a:rPr dirty="0" spc="-235"/>
              <a:t> </a:t>
            </a:r>
            <a:r>
              <a:rPr dirty="0" spc="-210"/>
              <a:t>are</a:t>
            </a:r>
            <a:r>
              <a:rPr dirty="0" spc="-229"/>
              <a:t> </a:t>
            </a:r>
            <a:r>
              <a:rPr dirty="0" spc="-150"/>
              <a:t>the</a:t>
            </a:r>
            <a:r>
              <a:rPr dirty="0" spc="-229"/>
              <a:t> </a:t>
            </a:r>
            <a:r>
              <a:rPr dirty="0" spc="-190"/>
              <a:t>most</a:t>
            </a:r>
            <a:r>
              <a:rPr dirty="0" spc="-229"/>
              <a:t> </a:t>
            </a:r>
            <a:r>
              <a:rPr dirty="0" spc="-185"/>
              <a:t>common</a:t>
            </a:r>
            <a:r>
              <a:rPr dirty="0" spc="-229"/>
              <a:t> </a:t>
            </a:r>
            <a:r>
              <a:rPr dirty="0" spc="-225"/>
              <a:t>reasons</a:t>
            </a:r>
            <a:r>
              <a:rPr dirty="0" spc="-229"/>
              <a:t> </a:t>
            </a:r>
            <a:r>
              <a:rPr dirty="0" spc="-65"/>
              <a:t>for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9"/>
              <a:t> </a:t>
            </a:r>
            <a:r>
              <a:rPr dirty="0" spc="-130"/>
              <a:t>contamination?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771146"/>
            <a:ext cx="13258799" cy="18192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1937" y="5560100"/>
            <a:ext cx="7867649" cy="29336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5038" y="5174802"/>
            <a:ext cx="3705240" cy="37052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6425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150"/>
              <a:t>6.What</a:t>
            </a:r>
            <a:r>
              <a:rPr dirty="0" spc="-220"/>
              <a:t> </a:t>
            </a:r>
            <a:r>
              <a:rPr dirty="0" spc="-95"/>
              <a:t>proportion</a:t>
            </a:r>
            <a:r>
              <a:rPr dirty="0" spc="-215"/>
              <a:t> </a:t>
            </a:r>
            <a:r>
              <a:rPr dirty="0" spc="-75"/>
              <a:t>of</a:t>
            </a:r>
            <a:r>
              <a:rPr dirty="0" spc="-215"/>
              <a:t> </a:t>
            </a:r>
            <a:r>
              <a:rPr dirty="0" spc="-130"/>
              <a:t>total</a:t>
            </a:r>
            <a:r>
              <a:rPr dirty="0" spc="-215"/>
              <a:t> </a:t>
            </a:r>
            <a:r>
              <a:rPr dirty="0" spc="-155"/>
              <a:t>donations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15"/>
              <a:t> marked </a:t>
            </a:r>
            <a:r>
              <a:rPr dirty="0" spc="-335"/>
              <a:t>as</a:t>
            </a:r>
            <a:r>
              <a:rPr dirty="0" spc="-215"/>
              <a:t> </a:t>
            </a:r>
            <a:r>
              <a:rPr dirty="0" spc="-175"/>
              <a:t>contaminated</a:t>
            </a:r>
            <a:r>
              <a:rPr dirty="0" spc="-215"/>
              <a:t> </a:t>
            </a:r>
            <a:r>
              <a:rPr dirty="0" spc="-110"/>
              <a:t>or</a:t>
            </a:r>
            <a:r>
              <a:rPr dirty="0" spc="-215"/>
              <a:t> </a:t>
            </a:r>
            <a:r>
              <a:rPr dirty="0" spc="-50"/>
              <a:t>pending </a:t>
            </a:r>
            <a:r>
              <a:rPr dirty="0" spc="-80"/>
              <a:t>testing?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395631"/>
            <a:ext cx="10487039" cy="263841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4614" y="6291589"/>
            <a:ext cx="8562989" cy="2762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7618" y="5734263"/>
            <a:ext cx="2867024" cy="28670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554683"/>
            <a:ext cx="131953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7.Are</a:t>
            </a:r>
            <a:r>
              <a:rPr dirty="0" spc="-220"/>
              <a:t> </a:t>
            </a:r>
            <a:r>
              <a:rPr dirty="0" spc="-155"/>
              <a:t>there</a:t>
            </a:r>
            <a:r>
              <a:rPr dirty="0" spc="-215"/>
              <a:t> </a:t>
            </a:r>
            <a:r>
              <a:rPr dirty="0" spc="-140"/>
              <a:t>donors</a:t>
            </a:r>
            <a:r>
              <a:rPr dirty="0" spc="-220"/>
              <a:t> </a:t>
            </a:r>
            <a:r>
              <a:rPr dirty="0" spc="-265"/>
              <a:t>whose</a:t>
            </a:r>
            <a:r>
              <a:rPr dirty="0" spc="-215"/>
              <a:t> </a:t>
            </a:r>
            <a:r>
              <a:rPr dirty="0" spc="-155"/>
              <a:t>donations</a:t>
            </a:r>
            <a:r>
              <a:rPr dirty="0" spc="-220"/>
              <a:t> </a:t>
            </a:r>
            <a:r>
              <a:rPr dirty="0" spc="-150"/>
              <a:t>repeatedly</a:t>
            </a:r>
            <a:r>
              <a:rPr dirty="0" spc="-215"/>
              <a:t> </a:t>
            </a:r>
            <a:r>
              <a:rPr dirty="0" spc="-120"/>
              <a:t>fail</a:t>
            </a:r>
            <a:r>
              <a:rPr dirty="0" spc="-220"/>
              <a:t> </a:t>
            </a:r>
            <a:r>
              <a:rPr dirty="0" spc="-120"/>
              <a:t>quality</a:t>
            </a:r>
            <a:r>
              <a:rPr dirty="0" spc="-215"/>
              <a:t> </a:t>
            </a:r>
            <a:r>
              <a:rPr dirty="0" spc="-114"/>
              <a:t>tests?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568485"/>
            <a:ext cx="11401439" cy="23145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4514" y="6711512"/>
            <a:ext cx="7562849" cy="25431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0673" y="5734263"/>
            <a:ext cx="3124199" cy="31241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27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8.Which</a:t>
            </a:r>
            <a:r>
              <a:rPr dirty="0" spc="-225"/>
              <a:t> </a:t>
            </a:r>
            <a:r>
              <a:rPr dirty="0" spc="-170"/>
              <a:t>hospitals</a:t>
            </a:r>
            <a:r>
              <a:rPr dirty="0" spc="-220"/>
              <a:t> </a:t>
            </a:r>
            <a:r>
              <a:rPr dirty="0" spc="-170"/>
              <a:t>request</a:t>
            </a:r>
            <a:r>
              <a:rPr dirty="0" spc="-220"/>
              <a:t> </a:t>
            </a:r>
            <a:r>
              <a:rPr dirty="0" spc="-150"/>
              <a:t>the</a:t>
            </a:r>
            <a:r>
              <a:rPr dirty="0" spc="-220"/>
              <a:t> </a:t>
            </a:r>
            <a:r>
              <a:rPr dirty="0" spc="-195"/>
              <a:t>highest</a:t>
            </a:r>
            <a:r>
              <a:rPr dirty="0" spc="-225"/>
              <a:t> </a:t>
            </a:r>
            <a:r>
              <a:rPr dirty="0" spc="-140"/>
              <a:t>number</a:t>
            </a:r>
            <a:r>
              <a:rPr dirty="0" spc="-220"/>
              <a:t> </a:t>
            </a:r>
            <a:r>
              <a:rPr dirty="0" spc="-75"/>
              <a:t>of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75"/>
              <a:t>units?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812410"/>
            <a:ext cx="13849349" cy="18573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3790" y="5823935"/>
            <a:ext cx="8029589" cy="26669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0559" y="5823935"/>
            <a:ext cx="3143249" cy="31432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27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9.Which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180"/>
              <a:t>groups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20"/>
              <a:t> </a:t>
            </a:r>
            <a:r>
              <a:rPr dirty="0" spc="-190"/>
              <a:t>most</a:t>
            </a:r>
            <a:r>
              <a:rPr dirty="0" spc="-220"/>
              <a:t> </a:t>
            </a:r>
            <a:r>
              <a:rPr dirty="0" spc="-110"/>
              <a:t>frequently</a:t>
            </a:r>
            <a:r>
              <a:rPr dirty="0" spc="-215"/>
              <a:t> </a:t>
            </a:r>
            <a:r>
              <a:rPr dirty="0" spc="-170"/>
              <a:t>requested</a:t>
            </a:r>
            <a:r>
              <a:rPr dirty="0" spc="-220"/>
              <a:t> </a:t>
            </a:r>
            <a:r>
              <a:rPr dirty="0" spc="-95"/>
              <a:t>by</a:t>
            </a:r>
            <a:r>
              <a:rPr dirty="0" spc="-220"/>
              <a:t> </a:t>
            </a:r>
            <a:r>
              <a:rPr dirty="0" spc="-114"/>
              <a:t>hospitals?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725856"/>
            <a:ext cx="13382639" cy="180022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2827" y="6029797"/>
            <a:ext cx="8201039" cy="28574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2184" y="5734263"/>
            <a:ext cx="2867024" cy="28670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554683"/>
            <a:ext cx="12629515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170"/>
              <a:t>10.What</a:t>
            </a:r>
            <a:r>
              <a:rPr dirty="0" spc="-225"/>
              <a:t> </a:t>
            </a:r>
            <a:r>
              <a:rPr dirty="0" spc="-240"/>
              <a:t>is</a:t>
            </a:r>
            <a:r>
              <a:rPr dirty="0" spc="-225"/>
              <a:t> </a:t>
            </a:r>
            <a:r>
              <a:rPr dirty="0" spc="-150"/>
              <a:t>the</a:t>
            </a:r>
            <a:r>
              <a:rPr dirty="0" spc="-225"/>
              <a:t> </a:t>
            </a:r>
            <a:r>
              <a:rPr dirty="0" spc="-229"/>
              <a:t>average</a:t>
            </a:r>
            <a:r>
              <a:rPr dirty="0" spc="-225"/>
              <a:t> </a:t>
            </a:r>
            <a:r>
              <a:rPr dirty="0" spc="-140"/>
              <a:t>number</a:t>
            </a:r>
            <a:r>
              <a:rPr dirty="0" spc="-220"/>
              <a:t> </a:t>
            </a:r>
            <a:r>
              <a:rPr dirty="0" spc="-75"/>
              <a:t>of</a:t>
            </a:r>
            <a:r>
              <a:rPr dirty="0" spc="-225"/>
              <a:t> </a:t>
            </a:r>
            <a:r>
              <a:rPr dirty="0" spc="-160"/>
              <a:t>units</a:t>
            </a:r>
            <a:r>
              <a:rPr dirty="0" spc="-225"/>
              <a:t> </a:t>
            </a:r>
            <a:r>
              <a:rPr dirty="0" spc="-170"/>
              <a:t>requested</a:t>
            </a:r>
            <a:r>
              <a:rPr dirty="0" spc="-225"/>
              <a:t> </a:t>
            </a:r>
            <a:r>
              <a:rPr dirty="0" spc="-130"/>
              <a:t>per</a:t>
            </a:r>
            <a:r>
              <a:rPr dirty="0" spc="-220"/>
              <a:t> </a:t>
            </a:r>
            <a:r>
              <a:rPr dirty="0" spc="-80"/>
              <a:t>hospital </a:t>
            </a:r>
            <a:r>
              <a:rPr dirty="0" spc="-60"/>
              <a:t>request?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292501"/>
            <a:ext cx="6857999" cy="58864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8588" y="6464441"/>
            <a:ext cx="9077339" cy="32384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24506" y="1820372"/>
            <a:ext cx="3124199" cy="31241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27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11.Are</a:t>
            </a:r>
            <a:r>
              <a:rPr dirty="0" spc="-220"/>
              <a:t> </a:t>
            </a:r>
            <a:r>
              <a:rPr dirty="0" spc="-170"/>
              <a:t>hospitals</a:t>
            </a:r>
            <a:r>
              <a:rPr dirty="0" spc="-220"/>
              <a:t> </a:t>
            </a:r>
            <a:r>
              <a:rPr dirty="0" spc="-175"/>
              <a:t>requesting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145"/>
              <a:t>that</a:t>
            </a:r>
            <a:r>
              <a:rPr dirty="0" spc="-220"/>
              <a:t> </a:t>
            </a:r>
            <a:r>
              <a:rPr dirty="0" spc="-240"/>
              <a:t>is</a:t>
            </a:r>
            <a:r>
              <a:rPr dirty="0" spc="-220"/>
              <a:t> </a:t>
            </a:r>
            <a:r>
              <a:rPr dirty="0" spc="-135"/>
              <a:t>currently</a:t>
            </a:r>
            <a:r>
              <a:rPr dirty="0" spc="-220"/>
              <a:t> </a:t>
            </a:r>
            <a:r>
              <a:rPr dirty="0" spc="-114"/>
              <a:t>unavailable?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534835"/>
            <a:ext cx="9401190" cy="21431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5901" y="6192042"/>
            <a:ext cx="7105649" cy="30670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3710" y="5734263"/>
            <a:ext cx="2886074" cy="28860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2709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12.Who</a:t>
            </a:r>
            <a:r>
              <a:rPr dirty="0" spc="-229"/>
              <a:t> </a:t>
            </a:r>
            <a:r>
              <a:rPr dirty="0" spc="-210"/>
              <a:t>are</a:t>
            </a:r>
            <a:r>
              <a:rPr dirty="0" spc="-229"/>
              <a:t> </a:t>
            </a:r>
            <a:r>
              <a:rPr dirty="0" spc="-150"/>
              <a:t>the</a:t>
            </a:r>
            <a:r>
              <a:rPr dirty="0" spc="-229"/>
              <a:t> </a:t>
            </a:r>
            <a:r>
              <a:rPr dirty="0" spc="-95"/>
              <a:t>top</a:t>
            </a:r>
            <a:r>
              <a:rPr dirty="0" spc="-229"/>
              <a:t> </a:t>
            </a:r>
            <a:r>
              <a:rPr dirty="0" spc="-140"/>
              <a:t>donors</a:t>
            </a:r>
            <a:r>
              <a:rPr dirty="0" spc="-229"/>
              <a:t> </a:t>
            </a:r>
            <a:r>
              <a:rPr dirty="0" spc="-210"/>
              <a:t>based</a:t>
            </a:r>
            <a:r>
              <a:rPr dirty="0" spc="-225"/>
              <a:t> </a:t>
            </a:r>
            <a:r>
              <a:rPr dirty="0" spc="-125"/>
              <a:t>on</a:t>
            </a:r>
            <a:r>
              <a:rPr dirty="0" spc="-229"/>
              <a:t> </a:t>
            </a:r>
            <a:r>
              <a:rPr dirty="0" spc="-130"/>
              <a:t>donation</a:t>
            </a:r>
            <a:r>
              <a:rPr dirty="0" spc="-229"/>
              <a:t> </a:t>
            </a:r>
            <a:r>
              <a:rPr dirty="0" spc="-100"/>
              <a:t>frequency?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2012502"/>
            <a:ext cx="11391899" cy="17716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6563" y="6020439"/>
            <a:ext cx="6515099" cy="29051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3805" y="5305653"/>
            <a:ext cx="3181349" cy="3181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554683"/>
            <a:ext cx="12045950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65"/>
              <a:t>13.How</a:t>
            </a:r>
            <a:r>
              <a:rPr dirty="0" spc="-229"/>
              <a:t> </a:t>
            </a:r>
            <a:r>
              <a:rPr dirty="0" spc="-180"/>
              <a:t>many</a:t>
            </a:r>
            <a:r>
              <a:rPr dirty="0" spc="-229"/>
              <a:t> </a:t>
            </a:r>
            <a:r>
              <a:rPr dirty="0" spc="-195"/>
              <a:t>active</a:t>
            </a:r>
            <a:r>
              <a:rPr dirty="0" spc="-229"/>
              <a:t> </a:t>
            </a:r>
            <a:r>
              <a:rPr dirty="0" spc="-220"/>
              <a:t>vs</a:t>
            </a:r>
            <a:r>
              <a:rPr dirty="0" spc="-229"/>
              <a:t> </a:t>
            </a:r>
            <a:r>
              <a:rPr dirty="0" spc="-175"/>
              <a:t>inactive</a:t>
            </a:r>
            <a:r>
              <a:rPr dirty="0" spc="-225"/>
              <a:t> </a:t>
            </a:r>
            <a:r>
              <a:rPr dirty="0" spc="-140"/>
              <a:t>donors</a:t>
            </a:r>
            <a:r>
              <a:rPr dirty="0" spc="-229"/>
              <a:t> </a:t>
            </a:r>
            <a:r>
              <a:rPr dirty="0" spc="-210"/>
              <a:t>are</a:t>
            </a:r>
            <a:r>
              <a:rPr dirty="0" spc="-229"/>
              <a:t> </a:t>
            </a:r>
            <a:r>
              <a:rPr dirty="0" spc="-185"/>
              <a:t>registered</a:t>
            </a:r>
            <a:r>
              <a:rPr dirty="0" spc="-229"/>
              <a:t> </a:t>
            </a:r>
            <a:r>
              <a:rPr dirty="0" spc="-120"/>
              <a:t>in</a:t>
            </a:r>
            <a:r>
              <a:rPr dirty="0" spc="-229"/>
              <a:t> </a:t>
            </a:r>
            <a:r>
              <a:rPr dirty="0" spc="-25"/>
              <a:t>the </a:t>
            </a:r>
            <a:r>
              <a:rPr dirty="0" spc="-90"/>
              <a:t>system?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823688"/>
            <a:ext cx="6353190" cy="332423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00206" y="7027849"/>
            <a:ext cx="5086349" cy="207643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91442" y="1858252"/>
            <a:ext cx="3476639" cy="34766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27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14.How</a:t>
            </a:r>
            <a:r>
              <a:rPr dirty="0" spc="-229"/>
              <a:t> </a:t>
            </a:r>
            <a:r>
              <a:rPr dirty="0" spc="-180"/>
              <a:t>many</a:t>
            </a:r>
            <a:r>
              <a:rPr dirty="0" spc="-225"/>
              <a:t> </a:t>
            </a:r>
            <a:r>
              <a:rPr dirty="0" spc="-140"/>
              <a:t>donors</a:t>
            </a:r>
            <a:r>
              <a:rPr dirty="0" spc="-229"/>
              <a:t> </a:t>
            </a:r>
            <a:r>
              <a:rPr dirty="0" spc="-185"/>
              <a:t>have</a:t>
            </a:r>
            <a:r>
              <a:rPr dirty="0" spc="-225"/>
              <a:t> </a:t>
            </a:r>
            <a:r>
              <a:rPr dirty="0" spc="-155"/>
              <a:t>recorded</a:t>
            </a:r>
            <a:r>
              <a:rPr dirty="0" spc="-225"/>
              <a:t> </a:t>
            </a:r>
            <a:r>
              <a:rPr dirty="0" spc="-190"/>
              <a:t>medical</a:t>
            </a:r>
            <a:r>
              <a:rPr dirty="0" spc="-229"/>
              <a:t> </a:t>
            </a:r>
            <a:r>
              <a:rPr dirty="0" spc="-114"/>
              <a:t>conditions?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2009918"/>
            <a:ext cx="8420099" cy="287654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6765919"/>
            <a:ext cx="7686659" cy="18478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3614" y="5734263"/>
            <a:ext cx="3829049" cy="382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962088"/>
            <a:ext cx="126644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15.Which</a:t>
            </a:r>
            <a:r>
              <a:rPr dirty="0" spc="-225"/>
              <a:t> </a:t>
            </a:r>
            <a:r>
              <a:rPr dirty="0" spc="-170"/>
              <a:t>hospitals</a:t>
            </a:r>
            <a:r>
              <a:rPr dirty="0" spc="-220"/>
              <a:t> </a:t>
            </a:r>
            <a:r>
              <a:rPr dirty="0" spc="-170"/>
              <a:t>request</a:t>
            </a:r>
            <a:r>
              <a:rPr dirty="0" spc="-225"/>
              <a:t> </a:t>
            </a:r>
            <a:r>
              <a:rPr dirty="0" spc="-150"/>
              <a:t>the</a:t>
            </a:r>
            <a:r>
              <a:rPr dirty="0" spc="-220"/>
              <a:t> </a:t>
            </a:r>
            <a:r>
              <a:rPr dirty="0" spc="-195"/>
              <a:t>highest</a:t>
            </a:r>
            <a:r>
              <a:rPr dirty="0" spc="-220"/>
              <a:t> </a:t>
            </a:r>
            <a:r>
              <a:rPr dirty="0" spc="-140"/>
              <a:t>number</a:t>
            </a:r>
            <a:r>
              <a:rPr dirty="0" spc="-225"/>
              <a:t> </a:t>
            </a:r>
            <a:r>
              <a:rPr dirty="0" spc="-75"/>
              <a:t>of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70"/>
              <a:t>units?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48" y="1736293"/>
            <a:ext cx="12906389" cy="20764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956" y="5938814"/>
            <a:ext cx="6705599" cy="33242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1553" y="5139994"/>
            <a:ext cx="4114799" cy="41147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0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16.Which</a:t>
            </a:r>
            <a:r>
              <a:rPr dirty="0" spc="-225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180"/>
              <a:t>groups</a:t>
            </a:r>
            <a:r>
              <a:rPr dirty="0" spc="-220"/>
              <a:t> </a:t>
            </a:r>
            <a:r>
              <a:rPr dirty="0" spc="-210"/>
              <a:t>are</a:t>
            </a:r>
            <a:r>
              <a:rPr dirty="0" spc="-220"/>
              <a:t> </a:t>
            </a:r>
            <a:r>
              <a:rPr dirty="0" spc="-190"/>
              <a:t>most</a:t>
            </a:r>
            <a:r>
              <a:rPr dirty="0" spc="-220"/>
              <a:t> </a:t>
            </a:r>
            <a:r>
              <a:rPr dirty="0" spc="-110"/>
              <a:t>frequently</a:t>
            </a:r>
            <a:r>
              <a:rPr dirty="0" spc="-220"/>
              <a:t> </a:t>
            </a:r>
            <a:r>
              <a:rPr dirty="0" spc="-170"/>
              <a:t>requested</a:t>
            </a:r>
            <a:r>
              <a:rPr dirty="0" spc="-220"/>
              <a:t> </a:t>
            </a:r>
            <a:r>
              <a:rPr dirty="0" spc="-95"/>
              <a:t>by</a:t>
            </a:r>
            <a:r>
              <a:rPr dirty="0" spc="-220"/>
              <a:t> </a:t>
            </a:r>
            <a:r>
              <a:rPr dirty="0" spc="-90"/>
              <a:t>hospitals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241285"/>
            <a:ext cx="15163799" cy="8477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833" y="6680697"/>
            <a:ext cx="5772149" cy="1809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8887" y="5143499"/>
            <a:ext cx="3047999" cy="304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48" y="962088"/>
            <a:ext cx="12552045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54"/>
              <a:t>17.What</a:t>
            </a:r>
            <a:r>
              <a:rPr dirty="0" spc="-229"/>
              <a:t> </a:t>
            </a:r>
            <a:r>
              <a:rPr dirty="0" spc="-240"/>
              <a:t>is</a:t>
            </a:r>
            <a:r>
              <a:rPr dirty="0" spc="-225"/>
              <a:t> </a:t>
            </a:r>
            <a:r>
              <a:rPr dirty="0" spc="-150"/>
              <a:t>the</a:t>
            </a:r>
            <a:r>
              <a:rPr dirty="0" spc="-225"/>
              <a:t> </a:t>
            </a:r>
            <a:r>
              <a:rPr dirty="0" spc="-229"/>
              <a:t>average </a:t>
            </a:r>
            <a:r>
              <a:rPr dirty="0" spc="-140"/>
              <a:t>number</a:t>
            </a:r>
            <a:r>
              <a:rPr dirty="0" spc="-225"/>
              <a:t> </a:t>
            </a:r>
            <a:r>
              <a:rPr dirty="0" spc="-75"/>
              <a:t>of</a:t>
            </a:r>
            <a:r>
              <a:rPr dirty="0" spc="-225"/>
              <a:t> </a:t>
            </a:r>
            <a:r>
              <a:rPr dirty="0" spc="-160"/>
              <a:t>units</a:t>
            </a:r>
            <a:r>
              <a:rPr dirty="0" spc="-229"/>
              <a:t> </a:t>
            </a:r>
            <a:r>
              <a:rPr dirty="0" spc="-170"/>
              <a:t>requested</a:t>
            </a:r>
            <a:r>
              <a:rPr dirty="0" spc="-225"/>
              <a:t> </a:t>
            </a:r>
            <a:r>
              <a:rPr dirty="0" spc="-130"/>
              <a:t>per</a:t>
            </a:r>
            <a:r>
              <a:rPr dirty="0" spc="-225"/>
              <a:t> </a:t>
            </a:r>
            <a:r>
              <a:rPr dirty="0" spc="-75"/>
              <a:t>hospital </a:t>
            </a:r>
            <a:r>
              <a:rPr dirty="0" spc="-60"/>
              <a:t>request?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885583"/>
            <a:ext cx="11744339" cy="460055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7432" y="6757004"/>
            <a:ext cx="6791309" cy="128585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38" y="8490310"/>
            <a:ext cx="6800849" cy="12191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9791" y="8442639"/>
            <a:ext cx="6038849" cy="13144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95549" y="795350"/>
            <a:ext cx="12075160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10"/>
              <a:t>18.What</a:t>
            </a:r>
            <a:r>
              <a:rPr dirty="0" spc="-225"/>
              <a:t> </a:t>
            </a:r>
            <a:r>
              <a:rPr dirty="0" spc="-204"/>
              <a:t>percentage</a:t>
            </a:r>
            <a:r>
              <a:rPr dirty="0" spc="-220"/>
              <a:t> </a:t>
            </a:r>
            <a:r>
              <a:rPr dirty="0" spc="-75"/>
              <a:t>of</a:t>
            </a:r>
            <a:r>
              <a:rPr dirty="0" spc="-220"/>
              <a:t> </a:t>
            </a:r>
            <a:r>
              <a:rPr dirty="0" spc="-90"/>
              <a:t>blood</a:t>
            </a:r>
            <a:r>
              <a:rPr dirty="0" spc="-220"/>
              <a:t> </a:t>
            </a:r>
            <a:r>
              <a:rPr dirty="0" spc="-195"/>
              <a:t>requests</a:t>
            </a:r>
            <a:r>
              <a:rPr dirty="0" spc="-220"/>
              <a:t> </a:t>
            </a:r>
            <a:r>
              <a:rPr dirty="0" spc="-210"/>
              <a:t>are</a:t>
            </a:r>
            <a:r>
              <a:rPr dirty="0" spc="-220"/>
              <a:t> </a:t>
            </a:r>
            <a:r>
              <a:rPr dirty="0" spc="-85"/>
              <a:t>fulfilled,</a:t>
            </a:r>
            <a:r>
              <a:rPr dirty="0" spc="-220"/>
              <a:t> </a:t>
            </a:r>
            <a:r>
              <a:rPr dirty="0" spc="-145"/>
              <a:t>open,</a:t>
            </a:r>
            <a:r>
              <a:rPr dirty="0" spc="-220"/>
              <a:t> </a:t>
            </a:r>
            <a:r>
              <a:rPr dirty="0" spc="-25"/>
              <a:t>or </a:t>
            </a:r>
            <a:r>
              <a:rPr dirty="0" spc="-110"/>
              <a:t>cancelled?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460" y="2044125"/>
            <a:ext cx="10382249" cy="19716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5898855"/>
            <a:ext cx="7981949" cy="357189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9267" y="5734263"/>
            <a:ext cx="2886074" cy="28860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36478" y="795350"/>
            <a:ext cx="12523470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195"/>
              <a:t>19.Which</a:t>
            </a:r>
            <a:r>
              <a:rPr dirty="0" spc="-225"/>
              <a:t> </a:t>
            </a:r>
            <a:r>
              <a:rPr dirty="0" spc="-90"/>
              <a:t>blood</a:t>
            </a:r>
            <a:r>
              <a:rPr dirty="0" spc="-225"/>
              <a:t> </a:t>
            </a:r>
            <a:r>
              <a:rPr dirty="0" spc="-180"/>
              <a:t>groups</a:t>
            </a:r>
            <a:r>
              <a:rPr dirty="0" spc="-225"/>
              <a:t> </a:t>
            </a:r>
            <a:r>
              <a:rPr dirty="0" spc="-185"/>
              <a:t>have</a:t>
            </a:r>
            <a:r>
              <a:rPr dirty="0" spc="-225"/>
              <a:t> </a:t>
            </a:r>
            <a:r>
              <a:rPr dirty="0" spc="-150"/>
              <a:t>the</a:t>
            </a:r>
            <a:r>
              <a:rPr dirty="0" spc="-220"/>
              <a:t> </a:t>
            </a:r>
            <a:r>
              <a:rPr dirty="0" spc="-195"/>
              <a:t>highest</a:t>
            </a:r>
            <a:r>
              <a:rPr dirty="0" spc="-225"/>
              <a:t> </a:t>
            </a:r>
            <a:r>
              <a:rPr dirty="0" spc="-140"/>
              <a:t>number</a:t>
            </a:r>
            <a:r>
              <a:rPr dirty="0" spc="-225"/>
              <a:t> </a:t>
            </a:r>
            <a:r>
              <a:rPr dirty="0" spc="-75"/>
              <a:t>of</a:t>
            </a:r>
            <a:r>
              <a:rPr dirty="0" spc="-225"/>
              <a:t> </a:t>
            </a:r>
            <a:r>
              <a:rPr dirty="0" spc="-35"/>
              <a:t>unfulfilled </a:t>
            </a:r>
            <a:r>
              <a:rPr dirty="0" spc="-95"/>
              <a:t>requests?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9586" y="1670821"/>
            <a:ext cx="17522825" cy="8067675"/>
            <a:chOff x="449586" y="1670821"/>
            <a:chExt cx="17522825" cy="80676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6" y="1670821"/>
              <a:ext cx="7162799" cy="579119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7202" y="5175686"/>
              <a:ext cx="11214992" cy="456249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6894" y="1786868"/>
              <a:ext cx="2933699" cy="29336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95549" y="562038"/>
            <a:ext cx="12573000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145"/>
              <a:t>20.For</a:t>
            </a:r>
            <a:r>
              <a:rPr dirty="0" spc="-215"/>
              <a:t> </a:t>
            </a:r>
            <a:r>
              <a:rPr dirty="0" spc="-140"/>
              <a:t>open</a:t>
            </a:r>
            <a:r>
              <a:rPr dirty="0" spc="-215"/>
              <a:t> </a:t>
            </a:r>
            <a:r>
              <a:rPr dirty="0" spc="-190"/>
              <a:t>requests,</a:t>
            </a:r>
            <a:r>
              <a:rPr dirty="0" spc="-215"/>
              <a:t> </a:t>
            </a:r>
            <a:r>
              <a:rPr dirty="0" spc="-240"/>
              <a:t>is</a:t>
            </a:r>
            <a:r>
              <a:rPr dirty="0" spc="-215"/>
              <a:t> </a:t>
            </a:r>
            <a:r>
              <a:rPr dirty="0" spc="-150"/>
              <a:t>sufficient</a:t>
            </a:r>
            <a:r>
              <a:rPr dirty="0" spc="-215"/>
              <a:t> </a:t>
            </a:r>
            <a:r>
              <a:rPr dirty="0" spc="-160"/>
              <a:t>compatible</a:t>
            </a:r>
            <a:r>
              <a:rPr dirty="0" spc="-215"/>
              <a:t> </a:t>
            </a:r>
            <a:r>
              <a:rPr dirty="0" spc="-90"/>
              <a:t>blood</a:t>
            </a:r>
            <a:r>
              <a:rPr dirty="0" spc="-215"/>
              <a:t> </a:t>
            </a:r>
            <a:r>
              <a:rPr dirty="0" spc="-70"/>
              <a:t>currently </a:t>
            </a:r>
            <a:r>
              <a:rPr dirty="0" spc="-85"/>
              <a:t>available?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774" y="1410531"/>
            <a:ext cx="8562990" cy="373379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06881" y="5571530"/>
            <a:ext cx="5572139" cy="41147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79136" y="1593286"/>
            <a:ext cx="2914649" cy="29146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065" rIns="0" bIns="0" rtlCol="0" vert="horz">
            <a:spAutoFit/>
          </a:bodyPr>
          <a:lstStyle/>
          <a:p>
            <a:pPr marL="80391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21.How</a:t>
            </a:r>
            <a:r>
              <a:rPr dirty="0" spc="-215"/>
              <a:t> </a:t>
            </a:r>
            <a:r>
              <a:rPr dirty="0" spc="-110"/>
              <a:t>do</a:t>
            </a:r>
            <a:r>
              <a:rPr dirty="0" spc="-215"/>
              <a:t> </a:t>
            </a:r>
            <a:r>
              <a:rPr dirty="0" spc="-90"/>
              <a:t>blood</a:t>
            </a:r>
            <a:r>
              <a:rPr dirty="0" spc="-215"/>
              <a:t> </a:t>
            </a:r>
            <a:r>
              <a:rPr dirty="0" spc="-155"/>
              <a:t>donations</a:t>
            </a:r>
            <a:r>
              <a:rPr dirty="0" spc="-215"/>
              <a:t> </a:t>
            </a:r>
            <a:r>
              <a:rPr dirty="0" spc="-135"/>
              <a:t>vary</a:t>
            </a:r>
            <a:r>
              <a:rPr dirty="0" spc="-215"/>
              <a:t> </a:t>
            </a:r>
            <a:r>
              <a:rPr dirty="0" spc="-70"/>
              <a:t>month-</a:t>
            </a:r>
            <a:r>
              <a:rPr dirty="0" spc="-320"/>
              <a:t>wise?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443776"/>
            <a:ext cx="8829690" cy="2952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38397" y="5143499"/>
            <a:ext cx="5553089" cy="4286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3995" y="5734263"/>
            <a:ext cx="2800349" cy="2800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065" rIns="0" bIns="0" rtlCol="0" vert="horz">
            <a:spAutoFit/>
          </a:bodyPr>
          <a:lstStyle/>
          <a:p>
            <a:pPr marL="80391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22.</a:t>
            </a:r>
            <a:r>
              <a:rPr dirty="0" spc="-229"/>
              <a:t> </a:t>
            </a:r>
            <a:r>
              <a:rPr dirty="0" spc="-280"/>
              <a:t>Is</a:t>
            </a:r>
            <a:r>
              <a:rPr dirty="0" spc="-229"/>
              <a:t> </a:t>
            </a:r>
            <a:r>
              <a:rPr dirty="0" spc="-155"/>
              <a:t>there</a:t>
            </a:r>
            <a:r>
              <a:rPr dirty="0" spc="-229"/>
              <a:t> </a:t>
            </a:r>
            <a:r>
              <a:rPr dirty="0" spc="-325"/>
              <a:t>a</a:t>
            </a:r>
            <a:r>
              <a:rPr dirty="0" spc="-229"/>
              <a:t> seasonal </a:t>
            </a:r>
            <a:r>
              <a:rPr dirty="0" spc="-135"/>
              <a:t>pattern</a:t>
            </a:r>
            <a:r>
              <a:rPr dirty="0" spc="-225"/>
              <a:t> </a:t>
            </a:r>
            <a:r>
              <a:rPr dirty="0" spc="-120"/>
              <a:t>in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9"/>
              <a:t> </a:t>
            </a:r>
            <a:r>
              <a:rPr dirty="0" spc="-130"/>
              <a:t>donation</a:t>
            </a:r>
            <a:r>
              <a:rPr dirty="0" spc="-229"/>
              <a:t> </a:t>
            </a:r>
            <a:r>
              <a:rPr dirty="0" spc="-110"/>
              <a:t>or</a:t>
            </a:r>
            <a:r>
              <a:rPr dirty="0" spc="-229"/>
              <a:t> </a:t>
            </a:r>
            <a:r>
              <a:rPr dirty="0" spc="-90"/>
              <a:t>blood</a:t>
            </a:r>
            <a:r>
              <a:rPr dirty="0" spc="-229"/>
              <a:t> </a:t>
            </a:r>
            <a:r>
              <a:rPr dirty="0" spc="-90"/>
              <a:t>demand?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195" y="1486469"/>
            <a:ext cx="12334859" cy="19240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10552" y="5337078"/>
            <a:ext cx="4676759" cy="3924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7971" y="4758811"/>
            <a:ext cx="3905249" cy="39052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5549" y="562038"/>
            <a:ext cx="108089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23.How</a:t>
            </a:r>
            <a:r>
              <a:rPr dirty="0" spc="-210"/>
              <a:t> </a:t>
            </a:r>
            <a:r>
              <a:rPr dirty="0" spc="-254"/>
              <a:t>has</a:t>
            </a:r>
            <a:r>
              <a:rPr dirty="0" spc="-210"/>
              <a:t> </a:t>
            </a:r>
            <a:r>
              <a:rPr dirty="0" spc="-114"/>
              <a:t>inventory</a:t>
            </a:r>
            <a:r>
              <a:rPr dirty="0" spc="-210"/>
              <a:t> </a:t>
            </a:r>
            <a:r>
              <a:rPr dirty="0" spc="-140"/>
              <a:t>availability</a:t>
            </a:r>
            <a:r>
              <a:rPr dirty="0" spc="-210"/>
              <a:t> </a:t>
            </a:r>
            <a:r>
              <a:rPr dirty="0" spc="-220"/>
              <a:t>changed</a:t>
            </a:r>
            <a:r>
              <a:rPr dirty="0" spc="-210"/>
              <a:t> </a:t>
            </a:r>
            <a:r>
              <a:rPr dirty="0" spc="-135"/>
              <a:t>over</a:t>
            </a:r>
            <a:r>
              <a:rPr dirty="0" spc="-210"/>
              <a:t> </a:t>
            </a:r>
            <a:r>
              <a:rPr dirty="0" spc="-90"/>
              <a:t>time?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08643" y="5728938"/>
            <a:ext cx="4679950" cy="4546600"/>
          </a:xfrm>
          <a:custGeom>
            <a:avLst/>
            <a:gdLst/>
            <a:ahLst/>
            <a:cxnLst/>
            <a:rect l="l" t="t" r="r" b="b"/>
            <a:pathLst>
              <a:path w="4679950" h="45466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679950" h="4546600">
                <a:moveTo>
                  <a:pt x="4679356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699" y="762000"/>
                </a:lnTo>
                <a:lnTo>
                  <a:pt x="4277529" y="800100"/>
                </a:lnTo>
                <a:lnTo>
                  <a:pt x="4327288" y="838200"/>
                </a:lnTo>
                <a:lnTo>
                  <a:pt x="4375951" y="863600"/>
                </a:lnTo>
                <a:lnTo>
                  <a:pt x="4423496" y="901700"/>
                </a:lnTo>
                <a:lnTo>
                  <a:pt x="4469899" y="939800"/>
                </a:lnTo>
                <a:lnTo>
                  <a:pt x="4515136" y="977900"/>
                </a:lnTo>
                <a:lnTo>
                  <a:pt x="4559185" y="1016000"/>
                </a:lnTo>
                <a:lnTo>
                  <a:pt x="4602022" y="1054100"/>
                </a:lnTo>
                <a:lnTo>
                  <a:pt x="4643624" y="1092200"/>
                </a:lnTo>
                <a:lnTo>
                  <a:pt x="4679356" y="1130300"/>
                </a:lnTo>
                <a:lnTo>
                  <a:pt x="4679356" y="1193800"/>
                </a:lnTo>
                <a:close/>
              </a:path>
              <a:path w="4679950" h="45466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679950" h="45466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679356" y="1193800"/>
                </a:lnTo>
                <a:lnTo>
                  <a:pt x="4679356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679950" h="4546600">
                <a:moveTo>
                  <a:pt x="4679356" y="2400300"/>
                </a:moveTo>
                <a:lnTo>
                  <a:pt x="4580375" y="2400300"/>
                </a:lnTo>
                <a:lnTo>
                  <a:pt x="4531825" y="2387600"/>
                </a:lnTo>
                <a:lnTo>
                  <a:pt x="4430862" y="2387600"/>
                </a:lnTo>
                <a:lnTo>
                  <a:pt x="4325100" y="2362200"/>
                </a:lnTo>
                <a:lnTo>
                  <a:pt x="4270552" y="23622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679356" y="2171700"/>
                </a:lnTo>
                <a:lnTo>
                  <a:pt x="4679356" y="2400300"/>
                </a:lnTo>
                <a:close/>
              </a:path>
              <a:path w="4679950" h="4546600">
                <a:moveTo>
                  <a:pt x="2278251" y="4546600"/>
                </a:moveTo>
                <a:lnTo>
                  <a:pt x="640851" y="4546600"/>
                </a:lnTo>
                <a:lnTo>
                  <a:pt x="529051" y="4406900"/>
                </a:lnTo>
                <a:lnTo>
                  <a:pt x="489903" y="43561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225" y="4394200"/>
                </a:lnTo>
                <a:lnTo>
                  <a:pt x="2290516" y="4457700"/>
                </a:lnTo>
                <a:lnTo>
                  <a:pt x="2283819" y="4508500"/>
                </a:lnTo>
                <a:lnTo>
                  <a:pt x="2278251" y="4546600"/>
                </a:lnTo>
                <a:close/>
              </a:path>
              <a:path w="4679950" h="4546600">
                <a:moveTo>
                  <a:pt x="3876747" y="4546600"/>
                </a:moveTo>
                <a:lnTo>
                  <a:pt x="3292432" y="4546600"/>
                </a:lnTo>
                <a:lnTo>
                  <a:pt x="3251008" y="4533900"/>
                </a:lnTo>
                <a:lnTo>
                  <a:pt x="3208826" y="4508500"/>
                </a:lnTo>
                <a:lnTo>
                  <a:pt x="3165921" y="4495800"/>
                </a:lnTo>
                <a:lnTo>
                  <a:pt x="3122325" y="4470400"/>
                </a:lnTo>
                <a:lnTo>
                  <a:pt x="3078073" y="4457700"/>
                </a:lnTo>
                <a:lnTo>
                  <a:pt x="3033197" y="4432300"/>
                </a:lnTo>
                <a:lnTo>
                  <a:pt x="2941706" y="43815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02440" y="4368800"/>
                </a:lnTo>
                <a:lnTo>
                  <a:pt x="3976711" y="4419600"/>
                </a:lnTo>
                <a:lnTo>
                  <a:pt x="3947199" y="4470400"/>
                </a:lnTo>
                <a:lnTo>
                  <a:pt x="3913884" y="4508500"/>
                </a:lnTo>
                <a:lnTo>
                  <a:pt x="3895794" y="4533900"/>
                </a:lnTo>
                <a:lnTo>
                  <a:pt x="3876747" y="4546600"/>
                </a:lnTo>
                <a:close/>
              </a:path>
            </a:pathLst>
          </a:custGeom>
          <a:solidFill>
            <a:srgbClr val="365F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6B6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3376" y="7226441"/>
            <a:ext cx="6791339" cy="21907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868801"/>
            <a:ext cx="7762859" cy="526734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1572" y="2229288"/>
            <a:ext cx="3657599" cy="365758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95549" y="562038"/>
            <a:ext cx="12652375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00"/>
              <a:t>24.Are</a:t>
            </a:r>
            <a:r>
              <a:rPr dirty="0" spc="-220"/>
              <a:t> </a:t>
            </a:r>
            <a:r>
              <a:rPr dirty="0" spc="-175"/>
              <a:t>rare</a:t>
            </a:r>
            <a:r>
              <a:rPr dirty="0" spc="-215"/>
              <a:t> </a:t>
            </a:r>
            <a:r>
              <a:rPr dirty="0" spc="-90"/>
              <a:t>blood</a:t>
            </a:r>
            <a:r>
              <a:rPr dirty="0" spc="-215"/>
              <a:t> </a:t>
            </a:r>
            <a:r>
              <a:rPr dirty="0" spc="-180"/>
              <a:t>groups</a:t>
            </a:r>
            <a:r>
              <a:rPr dirty="0" spc="-215"/>
              <a:t> </a:t>
            </a:r>
            <a:r>
              <a:rPr dirty="0" spc="-145"/>
              <a:t>donated</a:t>
            </a:r>
            <a:r>
              <a:rPr dirty="0" spc="-215"/>
              <a:t> </a:t>
            </a:r>
            <a:r>
              <a:rPr dirty="0" spc="-254"/>
              <a:t>less</a:t>
            </a:r>
            <a:r>
              <a:rPr dirty="0" spc="-215"/>
              <a:t> </a:t>
            </a:r>
            <a:r>
              <a:rPr dirty="0" spc="-110"/>
              <a:t>frequently</a:t>
            </a:r>
            <a:r>
              <a:rPr dirty="0" spc="-215"/>
              <a:t> </a:t>
            </a:r>
            <a:r>
              <a:rPr dirty="0" spc="-180"/>
              <a:t>compared</a:t>
            </a:r>
            <a:r>
              <a:rPr dirty="0" spc="-215"/>
              <a:t> </a:t>
            </a:r>
            <a:r>
              <a:rPr dirty="0" spc="-25"/>
              <a:t>to </a:t>
            </a:r>
            <a:r>
              <a:rPr dirty="0" spc="-185"/>
              <a:t>common</a:t>
            </a:r>
            <a:r>
              <a:rPr dirty="0" spc="-229"/>
              <a:t> </a:t>
            </a:r>
            <a:r>
              <a:rPr dirty="0" spc="-50"/>
              <a:t>groups?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608643" y="5728938"/>
            <a:ext cx="4679950" cy="4546600"/>
          </a:xfrm>
          <a:custGeom>
            <a:avLst/>
            <a:gdLst/>
            <a:ahLst/>
            <a:cxnLst/>
            <a:rect l="l" t="t" r="r" b="b"/>
            <a:pathLst>
              <a:path w="4679950" h="45466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679950" h="4546600">
                <a:moveTo>
                  <a:pt x="4679356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699" y="762000"/>
                </a:lnTo>
                <a:lnTo>
                  <a:pt x="4277529" y="800100"/>
                </a:lnTo>
                <a:lnTo>
                  <a:pt x="4327288" y="838200"/>
                </a:lnTo>
                <a:lnTo>
                  <a:pt x="4375951" y="863600"/>
                </a:lnTo>
                <a:lnTo>
                  <a:pt x="4423496" y="901700"/>
                </a:lnTo>
                <a:lnTo>
                  <a:pt x="4469899" y="939800"/>
                </a:lnTo>
                <a:lnTo>
                  <a:pt x="4515136" y="977900"/>
                </a:lnTo>
                <a:lnTo>
                  <a:pt x="4559185" y="1016000"/>
                </a:lnTo>
                <a:lnTo>
                  <a:pt x="4602022" y="1054100"/>
                </a:lnTo>
                <a:lnTo>
                  <a:pt x="4643624" y="1092200"/>
                </a:lnTo>
                <a:lnTo>
                  <a:pt x="4679356" y="1130300"/>
                </a:lnTo>
                <a:lnTo>
                  <a:pt x="4679356" y="1193800"/>
                </a:lnTo>
                <a:close/>
              </a:path>
              <a:path w="4679950" h="45466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679950" h="45466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679356" y="1193800"/>
                </a:lnTo>
                <a:lnTo>
                  <a:pt x="4679356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679950" h="4546600">
                <a:moveTo>
                  <a:pt x="4679356" y="2400300"/>
                </a:moveTo>
                <a:lnTo>
                  <a:pt x="4580375" y="2400300"/>
                </a:lnTo>
                <a:lnTo>
                  <a:pt x="4531825" y="2387600"/>
                </a:lnTo>
                <a:lnTo>
                  <a:pt x="4430862" y="2387600"/>
                </a:lnTo>
                <a:lnTo>
                  <a:pt x="4325100" y="2362200"/>
                </a:lnTo>
                <a:lnTo>
                  <a:pt x="4270552" y="23622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679356" y="2171700"/>
                </a:lnTo>
                <a:lnTo>
                  <a:pt x="4679356" y="2400300"/>
                </a:lnTo>
                <a:close/>
              </a:path>
              <a:path w="4679950" h="4546600">
                <a:moveTo>
                  <a:pt x="2278251" y="4546600"/>
                </a:moveTo>
                <a:lnTo>
                  <a:pt x="640851" y="4546600"/>
                </a:lnTo>
                <a:lnTo>
                  <a:pt x="529051" y="4406900"/>
                </a:lnTo>
                <a:lnTo>
                  <a:pt x="489903" y="43561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225" y="4394200"/>
                </a:lnTo>
                <a:lnTo>
                  <a:pt x="2290516" y="4457700"/>
                </a:lnTo>
                <a:lnTo>
                  <a:pt x="2283819" y="4508500"/>
                </a:lnTo>
                <a:lnTo>
                  <a:pt x="2278251" y="4546600"/>
                </a:lnTo>
                <a:close/>
              </a:path>
              <a:path w="4679950" h="4546600">
                <a:moveTo>
                  <a:pt x="3876747" y="4546600"/>
                </a:moveTo>
                <a:lnTo>
                  <a:pt x="3292432" y="4546600"/>
                </a:lnTo>
                <a:lnTo>
                  <a:pt x="3251008" y="4533900"/>
                </a:lnTo>
                <a:lnTo>
                  <a:pt x="3208826" y="4508500"/>
                </a:lnTo>
                <a:lnTo>
                  <a:pt x="3165921" y="4495800"/>
                </a:lnTo>
                <a:lnTo>
                  <a:pt x="3122325" y="4470400"/>
                </a:lnTo>
                <a:lnTo>
                  <a:pt x="3078073" y="4457700"/>
                </a:lnTo>
                <a:lnTo>
                  <a:pt x="3033197" y="4432300"/>
                </a:lnTo>
                <a:lnTo>
                  <a:pt x="2941706" y="43815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02440" y="4368800"/>
                </a:lnTo>
                <a:lnTo>
                  <a:pt x="3976711" y="4419600"/>
                </a:lnTo>
                <a:lnTo>
                  <a:pt x="3947199" y="4470400"/>
                </a:lnTo>
                <a:lnTo>
                  <a:pt x="3913884" y="4508500"/>
                </a:lnTo>
                <a:lnTo>
                  <a:pt x="3895794" y="4533900"/>
                </a:lnTo>
                <a:lnTo>
                  <a:pt x="3876747" y="4546600"/>
                </a:lnTo>
                <a:close/>
              </a:path>
            </a:pathLst>
          </a:custGeom>
          <a:solidFill>
            <a:srgbClr val="365F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6B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95549" y="562038"/>
            <a:ext cx="12699365" cy="913130"/>
          </a:xfrm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80"/>
              </a:spcBef>
            </a:pPr>
            <a:r>
              <a:rPr dirty="0" spc="-200"/>
              <a:t>25.What</a:t>
            </a:r>
            <a:r>
              <a:rPr dirty="0" spc="-210"/>
              <a:t> </a:t>
            </a:r>
            <a:r>
              <a:rPr dirty="0" spc="-145"/>
              <a:t>operational</a:t>
            </a:r>
            <a:r>
              <a:rPr dirty="0" spc="-204"/>
              <a:t> </a:t>
            </a:r>
            <a:r>
              <a:rPr dirty="0" spc="-160"/>
              <a:t>improvements</a:t>
            </a:r>
            <a:r>
              <a:rPr dirty="0" spc="-204"/>
              <a:t> </a:t>
            </a:r>
            <a:r>
              <a:rPr dirty="0" spc="-254"/>
              <a:t>can</a:t>
            </a:r>
            <a:r>
              <a:rPr dirty="0" spc="-204"/>
              <a:t> </a:t>
            </a:r>
            <a:r>
              <a:rPr dirty="0" spc="-175"/>
              <a:t>be</a:t>
            </a:r>
            <a:r>
              <a:rPr dirty="0" spc="-210"/>
              <a:t> </a:t>
            </a:r>
            <a:r>
              <a:rPr dirty="0" spc="-240"/>
              <a:t>suggested</a:t>
            </a:r>
            <a:r>
              <a:rPr dirty="0" spc="-204"/>
              <a:t> </a:t>
            </a:r>
            <a:r>
              <a:rPr dirty="0" spc="-210"/>
              <a:t>based</a:t>
            </a:r>
            <a:r>
              <a:rPr dirty="0" spc="-204"/>
              <a:t> </a:t>
            </a:r>
            <a:r>
              <a:rPr dirty="0" spc="-25"/>
              <a:t>on </a:t>
            </a:r>
            <a:r>
              <a:rPr dirty="0" spc="-190"/>
              <a:t>data</a:t>
            </a:r>
            <a:r>
              <a:rPr dirty="0" spc="-229"/>
              <a:t> </a:t>
            </a:r>
            <a:r>
              <a:rPr dirty="0" spc="-110"/>
              <a:t>analysis?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8803" y="2349532"/>
            <a:ext cx="152400" cy="152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2997232"/>
            <a:ext cx="152400" cy="1524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3644932"/>
            <a:ext cx="152400" cy="1524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4292632"/>
            <a:ext cx="152400" cy="1524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4940332"/>
            <a:ext cx="152400" cy="1524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5588032"/>
            <a:ext cx="152400" cy="1524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6235732"/>
            <a:ext cx="152400" cy="1524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6883432"/>
            <a:ext cx="152400" cy="1524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7531132"/>
            <a:ext cx="152400" cy="1524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803" y="8178832"/>
            <a:ext cx="152400" cy="15240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949096" y="1993494"/>
            <a:ext cx="9420860" cy="650240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3350" spc="-60">
                <a:latin typeface="Lucida Sans"/>
                <a:cs typeface="Lucida Sans"/>
              </a:rPr>
              <a:t>Target</a:t>
            </a:r>
            <a:r>
              <a:rPr dirty="0" sz="3350" spc="-10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rare</a:t>
            </a:r>
            <a:r>
              <a:rPr dirty="0" sz="3350" spc="-9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blood</a:t>
            </a:r>
            <a:r>
              <a:rPr dirty="0" sz="3350" spc="-95">
                <a:latin typeface="Lucida Sans"/>
                <a:cs typeface="Lucida Sans"/>
              </a:rPr>
              <a:t> </a:t>
            </a:r>
            <a:r>
              <a:rPr dirty="0" sz="3350" spc="-20">
                <a:latin typeface="Lucida Sans"/>
                <a:cs typeface="Lucida Sans"/>
              </a:rPr>
              <a:t>group</a:t>
            </a:r>
            <a:r>
              <a:rPr dirty="0" sz="3350" spc="-105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donors</a:t>
            </a:r>
            <a:endParaRPr sz="3350">
              <a:latin typeface="Lucida Sans"/>
              <a:cs typeface="Lucida Sans"/>
            </a:endParaRPr>
          </a:p>
          <a:p>
            <a:pPr marL="12700" marR="5080" indent="108585">
              <a:lnSpc>
                <a:spcPts val="5100"/>
              </a:lnSpc>
              <a:spcBef>
                <a:spcPts val="350"/>
              </a:spcBef>
            </a:pPr>
            <a:r>
              <a:rPr dirty="0" sz="3350" spc="80">
                <a:latin typeface="Lucida Sans"/>
                <a:cs typeface="Lucida Sans"/>
              </a:rPr>
              <a:t>Reduce</a:t>
            </a:r>
            <a:r>
              <a:rPr dirty="0" sz="3350" spc="-13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blood</a:t>
            </a:r>
            <a:r>
              <a:rPr dirty="0" sz="3350" spc="-14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expiry</a:t>
            </a:r>
            <a:r>
              <a:rPr dirty="0" sz="3350" spc="-13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through</a:t>
            </a:r>
            <a:r>
              <a:rPr dirty="0" sz="3350" spc="-140">
                <a:latin typeface="Lucida Sans"/>
                <a:cs typeface="Lucida Sans"/>
              </a:rPr>
              <a:t> </a:t>
            </a:r>
            <a:r>
              <a:rPr dirty="0" sz="3350" spc="90">
                <a:latin typeface="Lucida Sans"/>
                <a:cs typeface="Lucida Sans"/>
              </a:rPr>
              <a:t>better</a:t>
            </a:r>
            <a:r>
              <a:rPr dirty="0" sz="3350" spc="-135">
                <a:latin typeface="Lucida Sans"/>
                <a:cs typeface="Lucida Sans"/>
              </a:rPr>
              <a:t> </a:t>
            </a:r>
            <a:r>
              <a:rPr dirty="0" sz="3350" spc="35">
                <a:latin typeface="Lucida Sans"/>
                <a:cs typeface="Lucida Sans"/>
              </a:rPr>
              <a:t>rotation </a:t>
            </a:r>
            <a:r>
              <a:rPr dirty="0" sz="3350" spc="50">
                <a:latin typeface="Lucida Sans"/>
                <a:cs typeface="Lucida Sans"/>
              </a:rPr>
              <a:t>Monitor</a:t>
            </a:r>
            <a:r>
              <a:rPr dirty="0" sz="3350" spc="-9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demand</a:t>
            </a:r>
            <a:r>
              <a:rPr dirty="0" sz="3350" spc="-95">
                <a:latin typeface="Lucida Sans"/>
                <a:cs typeface="Lucida Sans"/>
              </a:rPr>
              <a:t> </a:t>
            </a:r>
            <a:r>
              <a:rPr dirty="0" sz="3350" spc="85">
                <a:latin typeface="Lucida Sans"/>
                <a:cs typeface="Lucida Sans"/>
              </a:rPr>
              <a:t>vs</a:t>
            </a:r>
            <a:r>
              <a:rPr dirty="0" sz="3350" spc="-90">
                <a:latin typeface="Lucida Sans"/>
                <a:cs typeface="Lucida Sans"/>
              </a:rPr>
              <a:t> </a:t>
            </a:r>
            <a:r>
              <a:rPr dirty="0" sz="3350" spc="50">
                <a:latin typeface="Lucida Sans"/>
                <a:cs typeface="Lucida Sans"/>
              </a:rPr>
              <a:t>availability</a:t>
            </a:r>
            <a:r>
              <a:rPr dirty="0" sz="3350" spc="-95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regularly </a:t>
            </a:r>
            <a:r>
              <a:rPr dirty="0" sz="3350">
                <a:latin typeface="Lucida Sans"/>
                <a:cs typeface="Lucida Sans"/>
              </a:rPr>
              <a:t>Expand</a:t>
            </a:r>
            <a:r>
              <a:rPr dirty="0" sz="3350" spc="-8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and</a:t>
            </a:r>
            <a:r>
              <a:rPr dirty="0" sz="3350" spc="-80">
                <a:latin typeface="Lucida Sans"/>
                <a:cs typeface="Lucida Sans"/>
              </a:rPr>
              <a:t> </a:t>
            </a:r>
            <a:r>
              <a:rPr dirty="0" sz="3350" spc="60">
                <a:latin typeface="Lucida Sans"/>
                <a:cs typeface="Lucida Sans"/>
              </a:rPr>
              <a:t>diversify</a:t>
            </a:r>
            <a:r>
              <a:rPr dirty="0" sz="3350" spc="-7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donor</a:t>
            </a:r>
            <a:r>
              <a:rPr dirty="0" sz="3350" spc="-75">
                <a:latin typeface="Lucida Sans"/>
                <a:cs typeface="Lucida Sans"/>
              </a:rPr>
              <a:t> </a:t>
            </a:r>
            <a:r>
              <a:rPr dirty="0" sz="3350" spc="-20">
                <a:latin typeface="Lucida Sans"/>
                <a:cs typeface="Lucida Sans"/>
              </a:rPr>
              <a:t>base</a:t>
            </a:r>
            <a:endParaRPr sz="3350">
              <a:latin typeface="Lucida Sans"/>
              <a:cs typeface="Lucida Sans"/>
            </a:endParaRPr>
          </a:p>
          <a:p>
            <a:pPr marL="12700" marR="1461135">
              <a:lnSpc>
                <a:spcPts val="5100"/>
              </a:lnSpc>
            </a:pPr>
            <a:r>
              <a:rPr dirty="0" sz="3350" spc="45">
                <a:latin typeface="Lucida Sans"/>
                <a:cs typeface="Lucida Sans"/>
              </a:rPr>
              <a:t>Improve</a:t>
            </a:r>
            <a:r>
              <a:rPr dirty="0" sz="3350" spc="-135">
                <a:latin typeface="Lucida Sans"/>
                <a:cs typeface="Lucida Sans"/>
              </a:rPr>
              <a:t> </a:t>
            </a:r>
            <a:r>
              <a:rPr dirty="0" sz="3350" spc="60">
                <a:latin typeface="Lucida Sans"/>
                <a:cs typeface="Lucida Sans"/>
              </a:rPr>
              <a:t>quality</a:t>
            </a:r>
            <a:r>
              <a:rPr dirty="0" sz="3350" spc="-13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screening</a:t>
            </a:r>
            <a:r>
              <a:rPr dirty="0" sz="3350" spc="-130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process </a:t>
            </a:r>
            <a:r>
              <a:rPr dirty="0" sz="3350" spc="114">
                <a:latin typeface="Lucida Sans"/>
                <a:cs typeface="Lucida Sans"/>
              </a:rPr>
              <a:t>Plan</a:t>
            </a:r>
            <a:r>
              <a:rPr dirty="0" sz="3350" spc="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seasonal</a:t>
            </a:r>
            <a:r>
              <a:rPr dirty="0" sz="3350" spc="1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donation</a:t>
            </a:r>
            <a:r>
              <a:rPr dirty="0" sz="3350" spc="-5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drives </a:t>
            </a:r>
            <a:r>
              <a:rPr dirty="0" sz="3350">
                <a:latin typeface="Lucida Sans"/>
                <a:cs typeface="Lucida Sans"/>
              </a:rPr>
              <a:t>Prioritize</a:t>
            </a:r>
            <a:r>
              <a:rPr dirty="0" sz="3350" spc="6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high-demand</a:t>
            </a:r>
            <a:r>
              <a:rPr dirty="0" sz="3350" spc="55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hospitals </a:t>
            </a:r>
            <a:r>
              <a:rPr dirty="0" sz="3350" spc="45">
                <a:latin typeface="Lucida Sans"/>
                <a:cs typeface="Lucida Sans"/>
              </a:rPr>
              <a:t>Maintain</a:t>
            </a:r>
            <a:r>
              <a:rPr dirty="0" sz="3350" spc="-120">
                <a:latin typeface="Lucida Sans"/>
                <a:cs typeface="Lucida Sans"/>
              </a:rPr>
              <a:t> </a:t>
            </a:r>
            <a:r>
              <a:rPr dirty="0" sz="3350" spc="65">
                <a:latin typeface="Lucida Sans"/>
                <a:cs typeface="Lucida Sans"/>
              </a:rPr>
              <a:t>real-</a:t>
            </a:r>
            <a:r>
              <a:rPr dirty="0" sz="3350">
                <a:latin typeface="Lucida Sans"/>
                <a:cs typeface="Lucida Sans"/>
              </a:rPr>
              <a:t>time</a:t>
            </a:r>
            <a:r>
              <a:rPr dirty="0" sz="3350" spc="-110">
                <a:latin typeface="Lucida Sans"/>
                <a:cs typeface="Lucida Sans"/>
              </a:rPr>
              <a:t> </a:t>
            </a:r>
            <a:r>
              <a:rPr dirty="0" sz="3350" spc="65">
                <a:latin typeface="Lucida Sans"/>
                <a:cs typeface="Lucida Sans"/>
              </a:rPr>
              <a:t>inventory</a:t>
            </a:r>
            <a:r>
              <a:rPr dirty="0" sz="3350" spc="-105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tracking </a:t>
            </a:r>
            <a:r>
              <a:rPr dirty="0" sz="3350" spc="55">
                <a:latin typeface="Lucida Sans"/>
                <a:cs typeface="Lucida Sans"/>
              </a:rPr>
              <a:t>Create</a:t>
            </a:r>
            <a:r>
              <a:rPr dirty="0" sz="3350" spc="-4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emergency</a:t>
            </a:r>
            <a:r>
              <a:rPr dirty="0" sz="3350" spc="-4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donor</a:t>
            </a:r>
            <a:r>
              <a:rPr dirty="0" sz="3350" spc="-40">
                <a:latin typeface="Lucida Sans"/>
                <a:cs typeface="Lucida Sans"/>
              </a:rPr>
              <a:t> </a:t>
            </a:r>
            <a:r>
              <a:rPr dirty="0" sz="3350" spc="100">
                <a:latin typeface="Lucida Sans"/>
                <a:cs typeface="Lucida Sans"/>
              </a:rPr>
              <a:t>contact</a:t>
            </a:r>
            <a:r>
              <a:rPr dirty="0" sz="3350" spc="-40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lists </a:t>
            </a:r>
            <a:r>
              <a:rPr dirty="0" sz="3350" spc="65">
                <a:latin typeface="Lucida Sans"/>
                <a:cs typeface="Lucida Sans"/>
              </a:rPr>
              <a:t>Use</a:t>
            </a:r>
            <a:r>
              <a:rPr dirty="0" sz="3350" spc="-50">
                <a:latin typeface="Lucida Sans"/>
                <a:cs typeface="Lucida Sans"/>
              </a:rPr>
              <a:t> </a:t>
            </a:r>
            <a:r>
              <a:rPr dirty="0" sz="3350" spc="65">
                <a:latin typeface="Lucida Sans"/>
                <a:cs typeface="Lucida Sans"/>
              </a:rPr>
              <a:t>data</a:t>
            </a:r>
            <a:r>
              <a:rPr dirty="0" sz="3350" spc="-50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for</a:t>
            </a:r>
            <a:r>
              <a:rPr dirty="0" sz="3350" spc="-45">
                <a:latin typeface="Lucida Sans"/>
                <a:cs typeface="Lucida Sans"/>
              </a:rPr>
              <a:t> </a:t>
            </a:r>
            <a:r>
              <a:rPr dirty="0" sz="3350">
                <a:latin typeface="Lucida Sans"/>
                <a:cs typeface="Lucida Sans"/>
              </a:rPr>
              <a:t>continuous</a:t>
            </a:r>
            <a:r>
              <a:rPr dirty="0" sz="3350" spc="-50">
                <a:latin typeface="Lucida Sans"/>
                <a:cs typeface="Lucida Sans"/>
              </a:rPr>
              <a:t> </a:t>
            </a:r>
            <a:r>
              <a:rPr dirty="0" sz="3350" spc="-10">
                <a:latin typeface="Lucida Sans"/>
                <a:cs typeface="Lucida Sans"/>
              </a:rPr>
              <a:t>improvement</a:t>
            </a:r>
            <a:endParaRPr sz="33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01500" y="523938"/>
            <a:ext cx="4417695" cy="970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-330">
                <a:solidFill>
                  <a:srgbClr val="365FB3"/>
                </a:solidFill>
              </a:rPr>
              <a:t>Conclusion</a:t>
            </a:r>
            <a:endParaRPr sz="62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774" y="2114763"/>
            <a:ext cx="161925" cy="1619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8774" y="3295863"/>
            <a:ext cx="161925" cy="1619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8774" y="4476963"/>
            <a:ext cx="161925" cy="1619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8774" y="5658063"/>
            <a:ext cx="161925" cy="1619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8774" y="7429713"/>
            <a:ext cx="161925" cy="161925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600"/>
              </a:lnSpc>
              <a:spcBef>
                <a:spcPts val="95"/>
              </a:spcBef>
            </a:pPr>
            <a:r>
              <a:rPr dirty="0" spc="-10"/>
              <a:t>This</a:t>
            </a:r>
            <a:r>
              <a:rPr dirty="0" spc="-100"/>
              <a:t> </a:t>
            </a:r>
            <a:r>
              <a:rPr dirty="0" spc="75"/>
              <a:t>project</a:t>
            </a:r>
            <a:r>
              <a:rPr dirty="0" spc="-100"/>
              <a:t> </a:t>
            </a:r>
            <a:r>
              <a:rPr dirty="0" spc="75"/>
              <a:t>demonstrated</a:t>
            </a:r>
            <a:r>
              <a:rPr dirty="0" spc="-95"/>
              <a:t> </a:t>
            </a:r>
            <a:r>
              <a:rPr dirty="0"/>
              <a:t>how</a:t>
            </a:r>
            <a:r>
              <a:rPr dirty="0" spc="-100"/>
              <a:t> </a:t>
            </a:r>
            <a:r>
              <a:rPr dirty="0" spc="160"/>
              <a:t>SQL</a:t>
            </a:r>
            <a:r>
              <a:rPr dirty="0" spc="-95"/>
              <a:t> </a:t>
            </a:r>
            <a:r>
              <a:rPr dirty="0" spc="75"/>
              <a:t>can</a:t>
            </a:r>
            <a:r>
              <a:rPr dirty="0" spc="-100"/>
              <a:t> </a:t>
            </a:r>
            <a:r>
              <a:rPr dirty="0" spc="80"/>
              <a:t>be</a:t>
            </a:r>
            <a:r>
              <a:rPr dirty="0" spc="-95"/>
              <a:t> </a:t>
            </a:r>
            <a:r>
              <a:rPr dirty="0" spc="120"/>
              <a:t>effectively</a:t>
            </a:r>
            <a:r>
              <a:rPr dirty="0" spc="-100"/>
              <a:t> </a:t>
            </a:r>
            <a:r>
              <a:rPr dirty="0" spc="-20"/>
              <a:t>used </a:t>
            </a:r>
            <a:r>
              <a:rPr dirty="0" spc="95"/>
              <a:t>to</a:t>
            </a:r>
            <a:r>
              <a:rPr dirty="0" spc="-125"/>
              <a:t> </a:t>
            </a:r>
            <a:r>
              <a:rPr dirty="0"/>
              <a:t>analyze</a:t>
            </a:r>
            <a:r>
              <a:rPr dirty="0" spc="-125"/>
              <a:t> </a:t>
            </a:r>
            <a:r>
              <a:rPr dirty="0" spc="100"/>
              <a:t>real-</a:t>
            </a:r>
            <a:r>
              <a:rPr dirty="0" spc="65"/>
              <a:t>world</a:t>
            </a:r>
            <a:r>
              <a:rPr dirty="0" spc="-125"/>
              <a:t> </a:t>
            </a:r>
            <a:r>
              <a:rPr dirty="0" spc="80"/>
              <a:t>healthcare</a:t>
            </a:r>
            <a:r>
              <a:rPr dirty="0" spc="-125"/>
              <a:t> </a:t>
            </a:r>
            <a:r>
              <a:rPr dirty="0" spc="-10"/>
              <a:t>data.</a:t>
            </a:r>
          </a:p>
          <a:p>
            <a:pPr algn="just" marL="12700" marR="5080">
              <a:lnSpc>
                <a:spcPct val="107600"/>
              </a:lnSpc>
            </a:pPr>
            <a:r>
              <a:rPr dirty="0"/>
              <a:t>The</a:t>
            </a:r>
            <a:r>
              <a:rPr dirty="0" spc="409"/>
              <a:t>  </a:t>
            </a:r>
            <a:r>
              <a:rPr dirty="0"/>
              <a:t>analysis</a:t>
            </a:r>
            <a:r>
              <a:rPr dirty="0" spc="409"/>
              <a:t>  </a:t>
            </a:r>
            <a:r>
              <a:rPr dirty="0" spc="85"/>
              <a:t>provided</a:t>
            </a:r>
            <a:r>
              <a:rPr dirty="0" spc="409"/>
              <a:t>  </a:t>
            </a:r>
            <a:r>
              <a:rPr dirty="0"/>
              <a:t>insights</a:t>
            </a:r>
            <a:r>
              <a:rPr dirty="0" spc="409"/>
              <a:t>  </a:t>
            </a:r>
            <a:r>
              <a:rPr dirty="0"/>
              <a:t>into</a:t>
            </a:r>
            <a:r>
              <a:rPr dirty="0" spc="405"/>
              <a:t>  </a:t>
            </a:r>
            <a:r>
              <a:rPr dirty="0" spc="60"/>
              <a:t>blood</a:t>
            </a:r>
            <a:r>
              <a:rPr dirty="0" spc="409"/>
              <a:t>  </a:t>
            </a:r>
            <a:r>
              <a:rPr dirty="0" spc="40"/>
              <a:t>availability, </a:t>
            </a:r>
            <a:r>
              <a:rPr dirty="0" spc="45"/>
              <a:t>hospital</a:t>
            </a:r>
            <a:r>
              <a:rPr dirty="0" spc="-135"/>
              <a:t> </a:t>
            </a:r>
            <a:r>
              <a:rPr dirty="0"/>
              <a:t>demand,</a:t>
            </a:r>
            <a:r>
              <a:rPr dirty="0" spc="-130"/>
              <a:t> </a:t>
            </a:r>
            <a:r>
              <a:rPr dirty="0" spc="55"/>
              <a:t>donor</a:t>
            </a:r>
            <a:r>
              <a:rPr dirty="0" spc="-135"/>
              <a:t> </a:t>
            </a:r>
            <a:r>
              <a:rPr dirty="0" spc="45"/>
              <a:t>behavior,</a:t>
            </a:r>
            <a:r>
              <a:rPr dirty="0" spc="-130"/>
              <a:t> </a:t>
            </a:r>
            <a:r>
              <a:rPr dirty="0" spc="50"/>
              <a:t>and</a:t>
            </a:r>
            <a:r>
              <a:rPr dirty="0" spc="-130"/>
              <a:t> </a:t>
            </a:r>
            <a:r>
              <a:rPr dirty="0" spc="90"/>
              <a:t>inventory</a:t>
            </a:r>
            <a:r>
              <a:rPr dirty="0" spc="-135"/>
              <a:t> </a:t>
            </a:r>
            <a:r>
              <a:rPr dirty="0" spc="-10"/>
              <a:t>status.</a:t>
            </a:r>
          </a:p>
          <a:p>
            <a:pPr algn="just" marL="12700" marR="5080">
              <a:lnSpc>
                <a:spcPct val="107600"/>
              </a:lnSpc>
              <a:spcBef>
                <a:spcPts val="5"/>
              </a:spcBef>
            </a:pPr>
            <a:r>
              <a:rPr dirty="0" spc="80"/>
              <a:t>Key</a:t>
            </a:r>
            <a:r>
              <a:rPr dirty="0" spc="-45"/>
              <a:t>  </a:t>
            </a:r>
            <a:r>
              <a:rPr dirty="0"/>
              <a:t>issues</a:t>
            </a:r>
            <a:r>
              <a:rPr dirty="0" spc="-45"/>
              <a:t>  </a:t>
            </a:r>
            <a:r>
              <a:rPr dirty="0"/>
              <a:t>such</a:t>
            </a:r>
            <a:r>
              <a:rPr dirty="0" spc="-45"/>
              <a:t>  </a:t>
            </a:r>
            <a:r>
              <a:rPr dirty="0"/>
              <a:t>as</a:t>
            </a:r>
            <a:r>
              <a:rPr dirty="0" spc="-45"/>
              <a:t>  </a:t>
            </a:r>
            <a:r>
              <a:rPr dirty="0" spc="65"/>
              <a:t>rare</a:t>
            </a:r>
            <a:r>
              <a:rPr dirty="0" spc="-45"/>
              <a:t>  </a:t>
            </a:r>
            <a:r>
              <a:rPr dirty="0" spc="60"/>
              <a:t>blood</a:t>
            </a:r>
            <a:r>
              <a:rPr dirty="0" spc="-45"/>
              <a:t>  </a:t>
            </a:r>
            <a:r>
              <a:rPr dirty="0"/>
              <a:t>group</a:t>
            </a:r>
            <a:r>
              <a:rPr dirty="0" spc="-40"/>
              <a:t>  </a:t>
            </a:r>
            <a:r>
              <a:rPr dirty="0"/>
              <a:t>shortages,</a:t>
            </a:r>
            <a:r>
              <a:rPr dirty="0" spc="-45"/>
              <a:t>  </a:t>
            </a:r>
            <a:r>
              <a:rPr dirty="0" spc="-10"/>
              <a:t>expired </a:t>
            </a:r>
            <a:r>
              <a:rPr dirty="0" spc="70"/>
              <a:t>inventory,</a:t>
            </a:r>
            <a:r>
              <a:rPr dirty="0" spc="-170"/>
              <a:t> </a:t>
            </a:r>
            <a:r>
              <a:rPr dirty="0" spc="50"/>
              <a:t>and</a:t>
            </a:r>
            <a:r>
              <a:rPr dirty="0" spc="-165"/>
              <a:t> </a:t>
            </a:r>
            <a:r>
              <a:rPr dirty="0" spc="50"/>
              <a:t>unfulfilled</a:t>
            </a:r>
            <a:r>
              <a:rPr dirty="0" spc="-165"/>
              <a:t> </a:t>
            </a:r>
            <a:r>
              <a:rPr dirty="0" spc="45"/>
              <a:t>hospital</a:t>
            </a:r>
            <a:r>
              <a:rPr dirty="0" spc="-165"/>
              <a:t> </a:t>
            </a:r>
            <a:r>
              <a:rPr dirty="0" spc="65"/>
              <a:t>requests</a:t>
            </a:r>
            <a:r>
              <a:rPr dirty="0" spc="-170"/>
              <a:t> </a:t>
            </a:r>
            <a:r>
              <a:rPr dirty="0" spc="85"/>
              <a:t>were</a:t>
            </a:r>
            <a:r>
              <a:rPr dirty="0" spc="-165"/>
              <a:t> </a:t>
            </a:r>
            <a:r>
              <a:rPr dirty="0" spc="-10"/>
              <a:t>identified. </a:t>
            </a:r>
            <a:r>
              <a:rPr dirty="0" spc="110"/>
              <a:t>Data-</a:t>
            </a:r>
            <a:r>
              <a:rPr dirty="0" spc="80"/>
              <a:t>driven</a:t>
            </a:r>
            <a:r>
              <a:rPr dirty="0" spc="530"/>
              <a:t>  </a:t>
            </a:r>
            <a:r>
              <a:rPr dirty="0"/>
              <a:t>findings</a:t>
            </a:r>
            <a:r>
              <a:rPr dirty="0" spc="535"/>
              <a:t>  </a:t>
            </a:r>
            <a:r>
              <a:rPr dirty="0"/>
              <a:t>highlighted</a:t>
            </a:r>
            <a:r>
              <a:rPr dirty="0" spc="535"/>
              <a:t>  </a:t>
            </a:r>
            <a:r>
              <a:rPr dirty="0" spc="95"/>
              <a:t>the</a:t>
            </a:r>
            <a:r>
              <a:rPr dirty="0" spc="530"/>
              <a:t>  </a:t>
            </a:r>
            <a:r>
              <a:rPr dirty="0" spc="80"/>
              <a:t>need</a:t>
            </a:r>
            <a:r>
              <a:rPr dirty="0" spc="535"/>
              <a:t>  </a:t>
            </a:r>
            <a:r>
              <a:rPr dirty="0" spc="60"/>
              <a:t>for</a:t>
            </a:r>
            <a:r>
              <a:rPr dirty="0" spc="535"/>
              <a:t>  </a:t>
            </a:r>
            <a:r>
              <a:rPr dirty="0" spc="100"/>
              <a:t>better </a:t>
            </a:r>
            <a:r>
              <a:rPr dirty="0" spc="90"/>
              <a:t>inventory</a:t>
            </a:r>
            <a:r>
              <a:rPr dirty="0" spc="270"/>
              <a:t>   </a:t>
            </a:r>
            <a:r>
              <a:rPr dirty="0"/>
              <a:t>management,</a:t>
            </a:r>
            <a:r>
              <a:rPr dirty="0" spc="275"/>
              <a:t>   </a:t>
            </a:r>
            <a:r>
              <a:rPr dirty="0" spc="65"/>
              <a:t>targeted</a:t>
            </a:r>
            <a:r>
              <a:rPr dirty="0" spc="270"/>
              <a:t>   </a:t>
            </a:r>
            <a:r>
              <a:rPr dirty="0" spc="55"/>
              <a:t>donor</a:t>
            </a:r>
            <a:r>
              <a:rPr dirty="0" spc="275"/>
              <a:t>   </a:t>
            </a:r>
            <a:r>
              <a:rPr dirty="0"/>
              <a:t>drives,</a:t>
            </a:r>
            <a:r>
              <a:rPr dirty="0" spc="275"/>
              <a:t>   </a:t>
            </a:r>
            <a:r>
              <a:rPr dirty="0" spc="25"/>
              <a:t>and </a:t>
            </a:r>
            <a:r>
              <a:rPr dirty="0" spc="85"/>
              <a:t>demand-</a:t>
            </a:r>
            <a:r>
              <a:rPr dirty="0" spc="60"/>
              <a:t>based</a:t>
            </a:r>
            <a:r>
              <a:rPr dirty="0" spc="-160"/>
              <a:t> </a:t>
            </a:r>
            <a:r>
              <a:rPr dirty="0" spc="-10"/>
              <a:t>prioritization.</a:t>
            </a:r>
          </a:p>
          <a:p>
            <a:pPr algn="just" marL="12700" marR="5080">
              <a:lnSpc>
                <a:spcPct val="107600"/>
              </a:lnSpc>
            </a:pPr>
            <a:r>
              <a:rPr dirty="0" spc="55"/>
              <a:t>Overall,</a:t>
            </a:r>
            <a:r>
              <a:rPr dirty="0" spc="-50"/>
              <a:t> </a:t>
            </a:r>
            <a:r>
              <a:rPr dirty="0" spc="95"/>
              <a:t>the</a:t>
            </a:r>
            <a:r>
              <a:rPr dirty="0" spc="-50"/>
              <a:t> </a:t>
            </a:r>
            <a:r>
              <a:rPr dirty="0" spc="75"/>
              <a:t>project</a:t>
            </a:r>
            <a:r>
              <a:rPr dirty="0" spc="-50"/>
              <a:t> </a:t>
            </a:r>
            <a:r>
              <a:rPr dirty="0"/>
              <a:t>shows</a:t>
            </a:r>
            <a:r>
              <a:rPr dirty="0" spc="-50"/>
              <a:t> </a:t>
            </a:r>
            <a:r>
              <a:rPr dirty="0"/>
              <a:t>how</a:t>
            </a:r>
            <a:r>
              <a:rPr dirty="0" spc="-50"/>
              <a:t> </a:t>
            </a:r>
            <a:r>
              <a:rPr dirty="0" spc="85"/>
              <a:t>structured</a:t>
            </a:r>
            <a:r>
              <a:rPr dirty="0" spc="-50"/>
              <a:t> </a:t>
            </a:r>
            <a:r>
              <a:rPr dirty="0" spc="85"/>
              <a:t>data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50"/>
              <a:t>can </a:t>
            </a:r>
            <a:r>
              <a:rPr dirty="0" spc="60"/>
              <a:t>support</a:t>
            </a:r>
            <a:r>
              <a:rPr dirty="0" spc="229"/>
              <a:t>  </a:t>
            </a:r>
            <a:r>
              <a:rPr dirty="0" spc="75"/>
              <a:t>efficient</a:t>
            </a:r>
            <a:r>
              <a:rPr dirty="0" spc="229"/>
              <a:t>  </a:t>
            </a:r>
            <a:r>
              <a:rPr dirty="0" spc="60"/>
              <a:t>blood</a:t>
            </a:r>
            <a:r>
              <a:rPr dirty="0" spc="225"/>
              <a:t>  </a:t>
            </a:r>
            <a:r>
              <a:rPr dirty="0"/>
              <a:t>bank</a:t>
            </a:r>
            <a:r>
              <a:rPr dirty="0" spc="229"/>
              <a:t>  </a:t>
            </a:r>
            <a:r>
              <a:rPr dirty="0" spc="55"/>
              <a:t>operations</a:t>
            </a:r>
            <a:r>
              <a:rPr dirty="0" spc="229"/>
              <a:t>  </a:t>
            </a:r>
            <a:r>
              <a:rPr dirty="0" spc="50"/>
              <a:t>and</a:t>
            </a:r>
            <a:r>
              <a:rPr dirty="0" spc="229"/>
              <a:t>  </a:t>
            </a:r>
            <a:r>
              <a:rPr dirty="0" spc="35"/>
              <a:t>informed </a:t>
            </a:r>
            <a:r>
              <a:rPr dirty="0" spc="70"/>
              <a:t>decision-</a:t>
            </a:r>
            <a:r>
              <a:rPr dirty="0" spc="-10"/>
              <a:t>making.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CE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061851" y="5897157"/>
            <a:ext cx="4226560" cy="4381500"/>
          </a:xfrm>
          <a:custGeom>
            <a:avLst/>
            <a:gdLst/>
            <a:ahLst/>
            <a:cxnLst/>
            <a:rect l="l" t="t" r="r" b="b"/>
            <a:pathLst>
              <a:path w="4226559" h="4381500">
                <a:moveTo>
                  <a:pt x="2495962" y="12700"/>
                </a:moveTo>
                <a:lnTo>
                  <a:pt x="2051350" y="12700"/>
                </a:lnTo>
                <a:lnTo>
                  <a:pt x="2085914" y="0"/>
                </a:lnTo>
                <a:lnTo>
                  <a:pt x="2450232" y="0"/>
                </a:lnTo>
                <a:lnTo>
                  <a:pt x="2495962" y="12700"/>
                </a:lnTo>
                <a:close/>
              </a:path>
              <a:path w="4226559" h="4381500">
                <a:moveTo>
                  <a:pt x="4226149" y="1193800"/>
                </a:moveTo>
                <a:lnTo>
                  <a:pt x="1628920" y="1193800"/>
                </a:lnTo>
                <a:lnTo>
                  <a:pt x="1620375" y="1130300"/>
                </a:lnTo>
                <a:lnTo>
                  <a:pt x="1613150" y="1066800"/>
                </a:lnTo>
                <a:lnTo>
                  <a:pt x="1607252" y="1003300"/>
                </a:lnTo>
                <a:lnTo>
                  <a:pt x="1602686" y="939800"/>
                </a:lnTo>
                <a:lnTo>
                  <a:pt x="1599458" y="889000"/>
                </a:lnTo>
                <a:lnTo>
                  <a:pt x="1597575" y="825500"/>
                </a:lnTo>
                <a:lnTo>
                  <a:pt x="1597041" y="774700"/>
                </a:lnTo>
                <a:lnTo>
                  <a:pt x="1597863" y="723900"/>
                </a:lnTo>
                <a:lnTo>
                  <a:pt x="1600047" y="673100"/>
                </a:lnTo>
                <a:lnTo>
                  <a:pt x="1603598" y="622300"/>
                </a:lnTo>
                <a:lnTo>
                  <a:pt x="1608522" y="571500"/>
                </a:lnTo>
                <a:lnTo>
                  <a:pt x="1614825" y="520700"/>
                </a:lnTo>
                <a:lnTo>
                  <a:pt x="1622514" y="482600"/>
                </a:lnTo>
                <a:lnTo>
                  <a:pt x="1631593" y="431800"/>
                </a:lnTo>
                <a:lnTo>
                  <a:pt x="1642068" y="393700"/>
                </a:lnTo>
                <a:lnTo>
                  <a:pt x="1653947" y="355600"/>
                </a:lnTo>
                <a:lnTo>
                  <a:pt x="1667233" y="317500"/>
                </a:lnTo>
                <a:lnTo>
                  <a:pt x="1681934" y="292100"/>
                </a:lnTo>
                <a:lnTo>
                  <a:pt x="1698055" y="254000"/>
                </a:lnTo>
                <a:lnTo>
                  <a:pt x="1715601" y="228600"/>
                </a:lnTo>
                <a:lnTo>
                  <a:pt x="1734580" y="203200"/>
                </a:lnTo>
                <a:lnTo>
                  <a:pt x="1735009" y="203200"/>
                </a:lnTo>
                <a:lnTo>
                  <a:pt x="1749630" y="177800"/>
                </a:lnTo>
                <a:lnTo>
                  <a:pt x="1766004" y="152400"/>
                </a:lnTo>
                <a:lnTo>
                  <a:pt x="1784092" y="139700"/>
                </a:lnTo>
                <a:lnTo>
                  <a:pt x="1803861" y="114300"/>
                </a:lnTo>
                <a:lnTo>
                  <a:pt x="1848289" y="88900"/>
                </a:lnTo>
                <a:lnTo>
                  <a:pt x="1898999" y="63500"/>
                </a:lnTo>
                <a:lnTo>
                  <a:pt x="1955700" y="38100"/>
                </a:lnTo>
                <a:lnTo>
                  <a:pt x="2018102" y="12700"/>
                </a:lnTo>
                <a:lnTo>
                  <a:pt x="2542608" y="12700"/>
                </a:lnTo>
                <a:lnTo>
                  <a:pt x="2788326" y="76200"/>
                </a:lnTo>
                <a:lnTo>
                  <a:pt x="2997702" y="127000"/>
                </a:lnTo>
                <a:lnTo>
                  <a:pt x="3051522" y="152400"/>
                </a:lnTo>
                <a:lnTo>
                  <a:pt x="3105859" y="165100"/>
                </a:lnTo>
                <a:lnTo>
                  <a:pt x="3215941" y="215900"/>
                </a:lnTo>
                <a:lnTo>
                  <a:pt x="3271613" y="228600"/>
                </a:lnTo>
                <a:lnTo>
                  <a:pt x="3554834" y="355600"/>
                </a:lnTo>
                <a:lnTo>
                  <a:pt x="3612196" y="393700"/>
                </a:lnTo>
                <a:lnTo>
                  <a:pt x="3727347" y="444500"/>
                </a:lnTo>
                <a:lnTo>
                  <a:pt x="3785064" y="482600"/>
                </a:lnTo>
                <a:lnTo>
                  <a:pt x="3842827" y="508000"/>
                </a:lnTo>
                <a:lnTo>
                  <a:pt x="3900509" y="546100"/>
                </a:lnTo>
                <a:lnTo>
                  <a:pt x="3957282" y="584200"/>
                </a:lnTo>
                <a:lnTo>
                  <a:pt x="4013123" y="622300"/>
                </a:lnTo>
                <a:lnTo>
                  <a:pt x="4068008" y="647700"/>
                </a:lnTo>
                <a:lnTo>
                  <a:pt x="4121915" y="685800"/>
                </a:lnTo>
                <a:lnTo>
                  <a:pt x="4174820" y="723900"/>
                </a:lnTo>
                <a:lnTo>
                  <a:pt x="4226149" y="762000"/>
                </a:lnTo>
                <a:lnTo>
                  <a:pt x="4226149" y="1193800"/>
                </a:lnTo>
                <a:close/>
              </a:path>
              <a:path w="4226559" h="4381500">
                <a:moveTo>
                  <a:pt x="1229886" y="1066800"/>
                </a:moveTo>
                <a:lnTo>
                  <a:pt x="1031043" y="1066800"/>
                </a:lnTo>
                <a:lnTo>
                  <a:pt x="1049026" y="1054100"/>
                </a:lnTo>
                <a:lnTo>
                  <a:pt x="1186139" y="1054100"/>
                </a:lnTo>
                <a:lnTo>
                  <a:pt x="1229886" y="1066800"/>
                </a:lnTo>
                <a:close/>
              </a:path>
              <a:path w="4226559" h="4381500">
                <a:moveTo>
                  <a:pt x="3941010" y="2971800"/>
                </a:moveTo>
                <a:lnTo>
                  <a:pt x="612056" y="2971800"/>
                </a:lnTo>
                <a:lnTo>
                  <a:pt x="604227" y="2908300"/>
                </a:lnTo>
                <a:lnTo>
                  <a:pt x="597201" y="2844800"/>
                </a:lnTo>
                <a:lnTo>
                  <a:pt x="590975" y="2781300"/>
                </a:lnTo>
                <a:lnTo>
                  <a:pt x="585543" y="2717800"/>
                </a:lnTo>
                <a:lnTo>
                  <a:pt x="580899" y="2654300"/>
                </a:lnTo>
                <a:lnTo>
                  <a:pt x="573958" y="2540000"/>
                </a:lnTo>
                <a:lnTo>
                  <a:pt x="571650" y="2476500"/>
                </a:lnTo>
                <a:lnTo>
                  <a:pt x="570111" y="2413000"/>
                </a:lnTo>
                <a:lnTo>
                  <a:pt x="569335" y="2362200"/>
                </a:lnTo>
                <a:lnTo>
                  <a:pt x="569317" y="2298700"/>
                </a:lnTo>
                <a:lnTo>
                  <a:pt x="570053" y="2247900"/>
                </a:lnTo>
                <a:lnTo>
                  <a:pt x="571537" y="2184400"/>
                </a:lnTo>
                <a:lnTo>
                  <a:pt x="573763" y="2133600"/>
                </a:lnTo>
                <a:lnTo>
                  <a:pt x="576728" y="2082800"/>
                </a:lnTo>
                <a:lnTo>
                  <a:pt x="580425" y="2032000"/>
                </a:lnTo>
                <a:lnTo>
                  <a:pt x="584850" y="1968500"/>
                </a:lnTo>
                <a:lnTo>
                  <a:pt x="589997" y="1917700"/>
                </a:lnTo>
                <a:lnTo>
                  <a:pt x="595862" y="1879600"/>
                </a:lnTo>
                <a:lnTo>
                  <a:pt x="602439" y="1828800"/>
                </a:lnTo>
                <a:lnTo>
                  <a:pt x="609724" y="1778000"/>
                </a:lnTo>
                <a:lnTo>
                  <a:pt x="617710" y="1727200"/>
                </a:lnTo>
                <a:lnTo>
                  <a:pt x="626394" y="1689100"/>
                </a:lnTo>
                <a:lnTo>
                  <a:pt x="635770" y="1638300"/>
                </a:lnTo>
                <a:lnTo>
                  <a:pt x="645833" y="1600200"/>
                </a:lnTo>
                <a:lnTo>
                  <a:pt x="656577" y="1562100"/>
                </a:lnTo>
                <a:lnTo>
                  <a:pt x="667998" y="1524000"/>
                </a:lnTo>
                <a:lnTo>
                  <a:pt x="680091" y="1485900"/>
                </a:lnTo>
                <a:lnTo>
                  <a:pt x="692850" y="1447800"/>
                </a:lnTo>
                <a:lnTo>
                  <a:pt x="706271" y="1409700"/>
                </a:lnTo>
                <a:lnTo>
                  <a:pt x="720348" y="1371600"/>
                </a:lnTo>
                <a:lnTo>
                  <a:pt x="735076" y="1346200"/>
                </a:lnTo>
                <a:lnTo>
                  <a:pt x="750450" y="1308100"/>
                </a:lnTo>
                <a:lnTo>
                  <a:pt x="766465" y="1282700"/>
                </a:lnTo>
                <a:lnTo>
                  <a:pt x="782751" y="1244600"/>
                </a:lnTo>
                <a:lnTo>
                  <a:pt x="803213" y="1206500"/>
                </a:lnTo>
                <a:lnTo>
                  <a:pt x="827850" y="1181100"/>
                </a:lnTo>
                <a:lnTo>
                  <a:pt x="856662" y="1143000"/>
                </a:lnTo>
                <a:lnTo>
                  <a:pt x="881050" y="1130300"/>
                </a:lnTo>
                <a:lnTo>
                  <a:pt x="906969" y="1117600"/>
                </a:lnTo>
                <a:lnTo>
                  <a:pt x="934417" y="1092200"/>
                </a:lnTo>
                <a:lnTo>
                  <a:pt x="963395" y="1079500"/>
                </a:lnTo>
                <a:lnTo>
                  <a:pt x="979812" y="1079500"/>
                </a:lnTo>
                <a:lnTo>
                  <a:pt x="996559" y="1066800"/>
                </a:lnTo>
                <a:lnTo>
                  <a:pt x="1275140" y="1066800"/>
                </a:lnTo>
                <a:lnTo>
                  <a:pt x="1369923" y="1092200"/>
                </a:lnTo>
                <a:lnTo>
                  <a:pt x="1419327" y="1104900"/>
                </a:lnTo>
                <a:lnTo>
                  <a:pt x="1469991" y="1130300"/>
                </a:lnTo>
                <a:lnTo>
                  <a:pt x="1521853" y="1143000"/>
                </a:lnTo>
                <a:lnTo>
                  <a:pt x="1628920" y="1193800"/>
                </a:lnTo>
                <a:lnTo>
                  <a:pt x="4226149" y="1193800"/>
                </a:lnTo>
                <a:lnTo>
                  <a:pt x="4226149" y="2171700"/>
                </a:lnTo>
                <a:lnTo>
                  <a:pt x="3676500" y="2171700"/>
                </a:lnTo>
                <a:lnTo>
                  <a:pt x="3702429" y="2235200"/>
                </a:lnTo>
                <a:lnTo>
                  <a:pt x="3727517" y="2311400"/>
                </a:lnTo>
                <a:lnTo>
                  <a:pt x="3751761" y="2374900"/>
                </a:lnTo>
                <a:lnTo>
                  <a:pt x="3775160" y="2438400"/>
                </a:lnTo>
                <a:lnTo>
                  <a:pt x="3797710" y="2501900"/>
                </a:lnTo>
                <a:lnTo>
                  <a:pt x="3819409" y="2565400"/>
                </a:lnTo>
                <a:lnTo>
                  <a:pt x="3840255" y="2628900"/>
                </a:lnTo>
                <a:lnTo>
                  <a:pt x="3860245" y="2692400"/>
                </a:lnTo>
                <a:lnTo>
                  <a:pt x="3879378" y="2743200"/>
                </a:lnTo>
                <a:lnTo>
                  <a:pt x="3897650" y="2806700"/>
                </a:lnTo>
                <a:lnTo>
                  <a:pt x="3915059" y="2870200"/>
                </a:lnTo>
                <a:lnTo>
                  <a:pt x="3931604" y="2933700"/>
                </a:lnTo>
                <a:lnTo>
                  <a:pt x="3941010" y="2971800"/>
                </a:lnTo>
                <a:close/>
              </a:path>
              <a:path w="4226559" h="4381500">
                <a:moveTo>
                  <a:pt x="4226149" y="2349500"/>
                </a:moveTo>
                <a:lnTo>
                  <a:pt x="4214963" y="2349500"/>
                </a:lnTo>
                <a:lnTo>
                  <a:pt x="4158384" y="2336800"/>
                </a:lnTo>
                <a:lnTo>
                  <a:pt x="4100870" y="2311400"/>
                </a:lnTo>
                <a:lnTo>
                  <a:pt x="3983246" y="2286000"/>
                </a:lnTo>
                <a:lnTo>
                  <a:pt x="3923241" y="2260600"/>
                </a:lnTo>
                <a:lnTo>
                  <a:pt x="3862511" y="2247900"/>
                </a:lnTo>
                <a:lnTo>
                  <a:pt x="3676500" y="2171700"/>
                </a:lnTo>
                <a:lnTo>
                  <a:pt x="4226149" y="2171700"/>
                </a:lnTo>
                <a:lnTo>
                  <a:pt x="4226149" y="2349500"/>
                </a:lnTo>
                <a:close/>
              </a:path>
              <a:path w="4226559" h="4381500">
                <a:moveTo>
                  <a:pt x="2296873" y="4381500"/>
                </a:moveTo>
                <a:lnTo>
                  <a:pt x="508789" y="4381500"/>
                </a:lnTo>
                <a:lnTo>
                  <a:pt x="452109" y="4305300"/>
                </a:lnTo>
                <a:lnTo>
                  <a:pt x="415690" y="4254500"/>
                </a:lnTo>
                <a:lnTo>
                  <a:pt x="380662" y="4203700"/>
                </a:lnTo>
                <a:lnTo>
                  <a:pt x="347046" y="4152900"/>
                </a:lnTo>
                <a:lnTo>
                  <a:pt x="314860" y="4089400"/>
                </a:lnTo>
                <a:lnTo>
                  <a:pt x="284123" y="4038600"/>
                </a:lnTo>
                <a:lnTo>
                  <a:pt x="254853" y="3987800"/>
                </a:lnTo>
                <a:lnTo>
                  <a:pt x="227069" y="3937000"/>
                </a:lnTo>
                <a:lnTo>
                  <a:pt x="200791" y="3886200"/>
                </a:lnTo>
                <a:lnTo>
                  <a:pt x="176036" y="3835400"/>
                </a:lnTo>
                <a:lnTo>
                  <a:pt x="152824" y="3784600"/>
                </a:lnTo>
                <a:lnTo>
                  <a:pt x="131174" y="3733800"/>
                </a:lnTo>
                <a:lnTo>
                  <a:pt x="111103" y="3695700"/>
                </a:lnTo>
                <a:lnTo>
                  <a:pt x="92632" y="3644900"/>
                </a:lnTo>
                <a:lnTo>
                  <a:pt x="75779" y="3594100"/>
                </a:lnTo>
                <a:lnTo>
                  <a:pt x="60562" y="3556000"/>
                </a:lnTo>
                <a:lnTo>
                  <a:pt x="47001" y="3505200"/>
                </a:lnTo>
                <a:lnTo>
                  <a:pt x="35113" y="3467100"/>
                </a:lnTo>
                <a:lnTo>
                  <a:pt x="24919" y="3416300"/>
                </a:lnTo>
                <a:lnTo>
                  <a:pt x="16436" y="3378200"/>
                </a:lnTo>
                <a:lnTo>
                  <a:pt x="9684" y="3340100"/>
                </a:lnTo>
                <a:lnTo>
                  <a:pt x="4682" y="3302000"/>
                </a:lnTo>
                <a:lnTo>
                  <a:pt x="1447" y="3263900"/>
                </a:lnTo>
                <a:lnTo>
                  <a:pt x="0" y="3225800"/>
                </a:lnTo>
                <a:lnTo>
                  <a:pt x="357" y="3187700"/>
                </a:lnTo>
                <a:lnTo>
                  <a:pt x="2540" y="3149600"/>
                </a:lnTo>
                <a:lnTo>
                  <a:pt x="6566" y="3124200"/>
                </a:lnTo>
                <a:lnTo>
                  <a:pt x="12453" y="3086100"/>
                </a:lnTo>
                <a:lnTo>
                  <a:pt x="29890" y="3035300"/>
                </a:lnTo>
                <a:lnTo>
                  <a:pt x="55000" y="2984500"/>
                </a:lnTo>
                <a:lnTo>
                  <a:pt x="70480" y="2971800"/>
                </a:lnTo>
                <a:lnTo>
                  <a:pt x="87935" y="2946400"/>
                </a:lnTo>
                <a:lnTo>
                  <a:pt x="107383" y="2933700"/>
                </a:lnTo>
                <a:lnTo>
                  <a:pt x="139411" y="2908300"/>
                </a:lnTo>
                <a:lnTo>
                  <a:pt x="174756" y="2895600"/>
                </a:lnTo>
                <a:lnTo>
                  <a:pt x="213235" y="2882900"/>
                </a:lnTo>
                <a:lnTo>
                  <a:pt x="345656" y="2882900"/>
                </a:lnTo>
                <a:lnTo>
                  <a:pt x="394852" y="2895600"/>
                </a:lnTo>
                <a:lnTo>
                  <a:pt x="499734" y="2921000"/>
                </a:lnTo>
                <a:lnTo>
                  <a:pt x="555056" y="2946400"/>
                </a:lnTo>
                <a:lnTo>
                  <a:pt x="612056" y="2971800"/>
                </a:lnTo>
                <a:lnTo>
                  <a:pt x="3941010" y="2971800"/>
                </a:lnTo>
                <a:lnTo>
                  <a:pt x="3947281" y="2997200"/>
                </a:lnTo>
                <a:lnTo>
                  <a:pt x="3962088" y="3048000"/>
                </a:lnTo>
                <a:lnTo>
                  <a:pt x="3976023" y="3111500"/>
                </a:lnTo>
                <a:lnTo>
                  <a:pt x="3989083" y="3162300"/>
                </a:lnTo>
                <a:lnTo>
                  <a:pt x="4001267" y="3225800"/>
                </a:lnTo>
                <a:lnTo>
                  <a:pt x="4012571" y="3276600"/>
                </a:lnTo>
                <a:lnTo>
                  <a:pt x="4022993" y="3340100"/>
                </a:lnTo>
                <a:lnTo>
                  <a:pt x="4032532" y="3390900"/>
                </a:lnTo>
                <a:lnTo>
                  <a:pt x="4041184" y="3441700"/>
                </a:lnTo>
                <a:lnTo>
                  <a:pt x="4048947" y="3505200"/>
                </a:lnTo>
                <a:lnTo>
                  <a:pt x="4055818" y="3556000"/>
                </a:lnTo>
                <a:lnTo>
                  <a:pt x="4061797" y="3606800"/>
                </a:lnTo>
                <a:lnTo>
                  <a:pt x="4066879" y="3657600"/>
                </a:lnTo>
                <a:lnTo>
                  <a:pt x="4071063" y="3708400"/>
                </a:lnTo>
                <a:lnTo>
                  <a:pt x="4074346" y="3759200"/>
                </a:lnTo>
                <a:lnTo>
                  <a:pt x="4076726" y="3797300"/>
                </a:lnTo>
                <a:lnTo>
                  <a:pt x="4078201" y="3848100"/>
                </a:lnTo>
                <a:lnTo>
                  <a:pt x="4078768" y="3898900"/>
                </a:lnTo>
                <a:lnTo>
                  <a:pt x="4078424" y="3937000"/>
                </a:lnTo>
                <a:lnTo>
                  <a:pt x="2307867" y="3937000"/>
                </a:lnTo>
                <a:lnTo>
                  <a:pt x="2309295" y="4000500"/>
                </a:lnTo>
                <a:lnTo>
                  <a:pt x="2309679" y="4076700"/>
                </a:lnTo>
                <a:lnTo>
                  <a:pt x="2309027" y="4140200"/>
                </a:lnTo>
                <a:lnTo>
                  <a:pt x="2307348" y="4203700"/>
                </a:lnTo>
                <a:lnTo>
                  <a:pt x="2304649" y="4267200"/>
                </a:lnTo>
                <a:lnTo>
                  <a:pt x="2300938" y="4330700"/>
                </a:lnTo>
                <a:lnTo>
                  <a:pt x="2296873" y="4381500"/>
                </a:lnTo>
                <a:close/>
              </a:path>
              <a:path w="4226559" h="4381500">
                <a:moveTo>
                  <a:pt x="3997139" y="4381500"/>
                </a:moveTo>
                <a:lnTo>
                  <a:pt x="2940937" y="4381500"/>
                </a:lnTo>
                <a:lnTo>
                  <a:pt x="2895159" y="4356100"/>
                </a:lnTo>
                <a:lnTo>
                  <a:pt x="2800626" y="4305300"/>
                </a:lnTo>
                <a:lnTo>
                  <a:pt x="2752707" y="4267200"/>
                </a:lnTo>
                <a:lnTo>
                  <a:pt x="2704398" y="4241800"/>
                </a:lnTo>
                <a:lnTo>
                  <a:pt x="2606741" y="4165600"/>
                </a:lnTo>
                <a:lnTo>
                  <a:pt x="2307867" y="3937000"/>
                </a:lnTo>
                <a:lnTo>
                  <a:pt x="4078424" y="3937000"/>
                </a:lnTo>
                <a:lnTo>
                  <a:pt x="4077168" y="3975100"/>
                </a:lnTo>
                <a:lnTo>
                  <a:pt x="4074997" y="4025900"/>
                </a:lnTo>
                <a:lnTo>
                  <a:pt x="4071909" y="4064000"/>
                </a:lnTo>
                <a:lnTo>
                  <a:pt x="4067901" y="4102100"/>
                </a:lnTo>
                <a:lnTo>
                  <a:pt x="4062971" y="4140200"/>
                </a:lnTo>
                <a:lnTo>
                  <a:pt x="4057116" y="4178300"/>
                </a:lnTo>
                <a:lnTo>
                  <a:pt x="4050334" y="4216400"/>
                </a:lnTo>
                <a:lnTo>
                  <a:pt x="4042624" y="4254500"/>
                </a:lnTo>
                <a:lnTo>
                  <a:pt x="4033981" y="4279900"/>
                </a:lnTo>
                <a:lnTo>
                  <a:pt x="4024405" y="4318000"/>
                </a:lnTo>
                <a:lnTo>
                  <a:pt x="4013892" y="4343400"/>
                </a:lnTo>
                <a:lnTo>
                  <a:pt x="4002440" y="4368800"/>
                </a:lnTo>
                <a:lnTo>
                  <a:pt x="3997139" y="4381500"/>
                </a:lnTo>
                <a:close/>
              </a:path>
            </a:pathLst>
          </a:custGeom>
          <a:solidFill>
            <a:srgbClr val="FF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1974214" cy="3241040"/>
          </a:xfrm>
          <a:custGeom>
            <a:avLst/>
            <a:gdLst/>
            <a:ahLst/>
            <a:cxnLst/>
            <a:rect l="l" t="t" r="r" b="b"/>
            <a:pathLst>
              <a:path w="1974214" h="3241040">
                <a:moveTo>
                  <a:pt x="1670980" y="619357"/>
                </a:moveTo>
                <a:lnTo>
                  <a:pt x="1674864" y="619357"/>
                </a:lnTo>
                <a:lnTo>
                  <a:pt x="1726379" y="625105"/>
                </a:lnTo>
                <a:lnTo>
                  <a:pt x="1775099" y="639229"/>
                </a:lnTo>
                <a:lnTo>
                  <a:pt x="1819704" y="661865"/>
                </a:lnTo>
                <a:lnTo>
                  <a:pt x="1862821" y="696097"/>
                </a:lnTo>
                <a:lnTo>
                  <a:pt x="1898757" y="739168"/>
                </a:lnTo>
                <a:lnTo>
                  <a:pt x="1927604" y="790557"/>
                </a:lnTo>
                <a:lnTo>
                  <a:pt x="1949455" y="849741"/>
                </a:lnTo>
                <a:lnTo>
                  <a:pt x="1964402" y="916199"/>
                </a:lnTo>
                <a:lnTo>
                  <a:pt x="1972538" y="989407"/>
                </a:lnTo>
                <a:lnTo>
                  <a:pt x="1974080" y="1028380"/>
                </a:lnTo>
                <a:lnTo>
                  <a:pt x="1973954" y="1068845"/>
                </a:lnTo>
                <a:lnTo>
                  <a:pt x="1972171" y="1110736"/>
                </a:lnTo>
                <a:lnTo>
                  <a:pt x="1968743" y="1153989"/>
                </a:lnTo>
                <a:lnTo>
                  <a:pt x="1963681" y="1198538"/>
                </a:lnTo>
                <a:lnTo>
                  <a:pt x="1956997" y="1244318"/>
                </a:lnTo>
                <a:lnTo>
                  <a:pt x="1948703" y="1291264"/>
                </a:lnTo>
                <a:lnTo>
                  <a:pt x="1938809" y="1339310"/>
                </a:lnTo>
                <a:lnTo>
                  <a:pt x="1927328" y="1388391"/>
                </a:lnTo>
                <a:lnTo>
                  <a:pt x="1914272" y="1438442"/>
                </a:lnTo>
                <a:lnTo>
                  <a:pt x="1899650" y="1489397"/>
                </a:lnTo>
                <a:lnTo>
                  <a:pt x="1883476" y="1541192"/>
                </a:lnTo>
                <a:lnTo>
                  <a:pt x="1865761" y="1593760"/>
                </a:lnTo>
                <a:lnTo>
                  <a:pt x="1846515" y="1647038"/>
                </a:lnTo>
                <a:lnTo>
                  <a:pt x="1825752" y="1700959"/>
                </a:lnTo>
                <a:lnTo>
                  <a:pt x="1803482" y="1755458"/>
                </a:lnTo>
                <a:lnTo>
                  <a:pt x="1779716" y="1810469"/>
                </a:lnTo>
                <a:lnTo>
                  <a:pt x="1754467" y="1865929"/>
                </a:lnTo>
                <a:lnTo>
                  <a:pt x="1727746" y="1921771"/>
                </a:lnTo>
                <a:lnTo>
                  <a:pt x="1699565" y="1977930"/>
                </a:lnTo>
                <a:lnTo>
                  <a:pt x="1669934" y="2034341"/>
                </a:lnTo>
                <a:lnTo>
                  <a:pt x="1638866" y="2090938"/>
                </a:lnTo>
                <a:lnTo>
                  <a:pt x="1606372" y="2147656"/>
                </a:lnTo>
                <a:lnTo>
                  <a:pt x="1572464" y="2204431"/>
                </a:lnTo>
                <a:lnTo>
                  <a:pt x="1537153" y="2261196"/>
                </a:lnTo>
                <a:lnTo>
                  <a:pt x="1500823" y="2317315"/>
                </a:lnTo>
                <a:lnTo>
                  <a:pt x="1463888" y="2372169"/>
                </a:lnTo>
                <a:lnTo>
                  <a:pt x="1426402" y="2425719"/>
                </a:lnTo>
                <a:lnTo>
                  <a:pt x="1388418" y="2477927"/>
                </a:lnTo>
                <a:lnTo>
                  <a:pt x="1349991" y="2528755"/>
                </a:lnTo>
                <a:lnTo>
                  <a:pt x="1311175" y="2578165"/>
                </a:lnTo>
                <a:lnTo>
                  <a:pt x="1272024" y="2626118"/>
                </a:lnTo>
                <a:lnTo>
                  <a:pt x="1232592" y="2672576"/>
                </a:lnTo>
                <a:lnTo>
                  <a:pt x="1192933" y="2717502"/>
                </a:lnTo>
                <a:lnTo>
                  <a:pt x="1153102" y="2760856"/>
                </a:lnTo>
                <a:lnTo>
                  <a:pt x="1113152" y="2802601"/>
                </a:lnTo>
                <a:lnTo>
                  <a:pt x="1073138" y="2842698"/>
                </a:lnTo>
                <a:lnTo>
                  <a:pt x="1033113" y="2881110"/>
                </a:lnTo>
                <a:lnTo>
                  <a:pt x="993132" y="2917797"/>
                </a:lnTo>
                <a:lnTo>
                  <a:pt x="953249" y="2952723"/>
                </a:lnTo>
                <a:lnTo>
                  <a:pt x="913518" y="2985848"/>
                </a:lnTo>
                <a:lnTo>
                  <a:pt x="873993" y="3017134"/>
                </a:lnTo>
                <a:lnTo>
                  <a:pt x="834714" y="3046553"/>
                </a:lnTo>
                <a:lnTo>
                  <a:pt x="795778" y="3074037"/>
                </a:lnTo>
                <a:lnTo>
                  <a:pt x="757196" y="3099578"/>
                </a:lnTo>
                <a:lnTo>
                  <a:pt x="719037" y="3123128"/>
                </a:lnTo>
                <a:lnTo>
                  <a:pt x="681355" y="3144647"/>
                </a:lnTo>
                <a:lnTo>
                  <a:pt x="644203" y="3164099"/>
                </a:lnTo>
                <a:lnTo>
                  <a:pt x="607636" y="3181445"/>
                </a:lnTo>
                <a:lnTo>
                  <a:pt x="571708" y="3196646"/>
                </a:lnTo>
                <a:lnTo>
                  <a:pt x="501985" y="3220462"/>
                </a:lnTo>
                <a:lnTo>
                  <a:pt x="435468" y="3235242"/>
                </a:lnTo>
                <a:lnTo>
                  <a:pt x="372589" y="3240680"/>
                </a:lnTo>
                <a:lnTo>
                  <a:pt x="342649" y="3239800"/>
                </a:lnTo>
                <a:lnTo>
                  <a:pt x="286039" y="3230652"/>
                </a:lnTo>
                <a:lnTo>
                  <a:pt x="234150" y="3211398"/>
                </a:lnTo>
                <a:lnTo>
                  <a:pt x="180048" y="3175593"/>
                </a:lnTo>
                <a:lnTo>
                  <a:pt x="129866" y="3118721"/>
                </a:lnTo>
                <a:lnTo>
                  <a:pt x="109689" y="3084467"/>
                </a:lnTo>
                <a:lnTo>
                  <a:pt x="92751" y="3046553"/>
                </a:lnTo>
                <a:lnTo>
                  <a:pt x="79024" y="3005142"/>
                </a:lnTo>
                <a:lnTo>
                  <a:pt x="68479" y="2960395"/>
                </a:lnTo>
                <a:lnTo>
                  <a:pt x="61087" y="2912477"/>
                </a:lnTo>
                <a:lnTo>
                  <a:pt x="56822" y="2861551"/>
                </a:lnTo>
                <a:lnTo>
                  <a:pt x="55653" y="2807780"/>
                </a:lnTo>
                <a:lnTo>
                  <a:pt x="57553" y="2751326"/>
                </a:lnTo>
                <a:lnTo>
                  <a:pt x="62494" y="2692353"/>
                </a:lnTo>
                <a:lnTo>
                  <a:pt x="70448" y="2631025"/>
                </a:lnTo>
                <a:lnTo>
                  <a:pt x="0" y="2631025"/>
                </a:lnTo>
                <a:lnTo>
                  <a:pt x="0" y="685908"/>
                </a:lnTo>
                <a:lnTo>
                  <a:pt x="1151785" y="685908"/>
                </a:lnTo>
                <a:lnTo>
                  <a:pt x="1211162" y="669638"/>
                </a:lnTo>
                <a:lnTo>
                  <a:pt x="1268882" y="655576"/>
                </a:lnTo>
                <a:lnTo>
                  <a:pt x="1324844" y="643748"/>
                </a:lnTo>
                <a:lnTo>
                  <a:pt x="1378948" y="634185"/>
                </a:lnTo>
                <a:lnTo>
                  <a:pt x="1431094" y="626913"/>
                </a:lnTo>
                <a:lnTo>
                  <a:pt x="1481180" y="621961"/>
                </a:lnTo>
                <a:lnTo>
                  <a:pt x="1491581" y="621396"/>
                </a:lnTo>
                <a:lnTo>
                  <a:pt x="1618081" y="621396"/>
                </a:lnTo>
                <a:lnTo>
                  <a:pt x="1670980" y="619357"/>
                </a:lnTo>
                <a:close/>
              </a:path>
              <a:path w="1974214" h="3241040">
                <a:moveTo>
                  <a:pt x="0" y="2631025"/>
                </a:moveTo>
                <a:lnTo>
                  <a:pt x="70448" y="2631025"/>
                </a:lnTo>
                <a:lnTo>
                  <a:pt x="13685" y="2655830"/>
                </a:lnTo>
                <a:lnTo>
                  <a:pt x="0" y="2661535"/>
                </a:lnTo>
                <a:lnTo>
                  <a:pt x="0" y="2631025"/>
                </a:lnTo>
                <a:close/>
              </a:path>
              <a:path w="1974214" h="3241040">
                <a:moveTo>
                  <a:pt x="0" y="0"/>
                </a:moveTo>
                <a:lnTo>
                  <a:pt x="1301521" y="0"/>
                </a:lnTo>
                <a:lnTo>
                  <a:pt x="1301438" y="18329"/>
                </a:lnTo>
                <a:lnTo>
                  <a:pt x="1299284" y="66112"/>
                </a:lnTo>
                <a:lnTo>
                  <a:pt x="1295201" y="115556"/>
                </a:lnTo>
                <a:lnTo>
                  <a:pt x="1289204" y="166591"/>
                </a:lnTo>
                <a:lnTo>
                  <a:pt x="1281310" y="219146"/>
                </a:lnTo>
                <a:lnTo>
                  <a:pt x="1271535" y="273153"/>
                </a:lnTo>
                <a:lnTo>
                  <a:pt x="1259895" y="328539"/>
                </a:lnTo>
                <a:lnTo>
                  <a:pt x="1246405" y="385236"/>
                </a:lnTo>
                <a:lnTo>
                  <a:pt x="1231083" y="443172"/>
                </a:lnTo>
                <a:lnTo>
                  <a:pt x="1213944" y="502278"/>
                </a:lnTo>
                <a:lnTo>
                  <a:pt x="1195003" y="562482"/>
                </a:lnTo>
                <a:lnTo>
                  <a:pt x="1174278" y="623716"/>
                </a:lnTo>
                <a:lnTo>
                  <a:pt x="1151785" y="685908"/>
                </a:lnTo>
                <a:lnTo>
                  <a:pt x="0" y="685908"/>
                </a:lnTo>
                <a:lnTo>
                  <a:pt x="0" y="0"/>
                </a:lnTo>
                <a:close/>
              </a:path>
              <a:path w="1974214" h="3241040">
                <a:moveTo>
                  <a:pt x="1529106" y="619357"/>
                </a:moveTo>
                <a:lnTo>
                  <a:pt x="1579304" y="619357"/>
                </a:lnTo>
                <a:lnTo>
                  <a:pt x="1619869" y="621396"/>
                </a:lnTo>
                <a:lnTo>
                  <a:pt x="1491581" y="621396"/>
                </a:lnTo>
                <a:lnTo>
                  <a:pt x="1529106" y="619357"/>
                </a:lnTo>
                <a:close/>
              </a:path>
            </a:pathLst>
          </a:custGeom>
          <a:solidFill>
            <a:srgbClr val="F1AC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49053" y="4349829"/>
            <a:ext cx="6483350" cy="1525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800" spc="-785">
                <a:solidFill>
                  <a:srgbClr val="365FB3"/>
                </a:solidFill>
              </a:rPr>
              <a:t>Thank</a:t>
            </a:r>
            <a:r>
              <a:rPr dirty="0" sz="9800" spc="-735">
                <a:solidFill>
                  <a:srgbClr val="365FB3"/>
                </a:solidFill>
              </a:rPr>
              <a:t> </a:t>
            </a:r>
            <a:r>
              <a:rPr dirty="0" sz="9800" spc="-705">
                <a:solidFill>
                  <a:srgbClr val="365FB3"/>
                </a:solidFill>
              </a:rPr>
              <a:t>You</a:t>
            </a:r>
            <a:endParaRPr sz="9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2026-01-07T18:27:49Z</dcterms:created>
  <dcterms:modified xsi:type="dcterms:W3CDTF">2026-01-07T18:27:49Z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LastSaved">
    <vt:filetime>2026-01-07T00:00:00Z</vt:filetime>
  </property>
  <property fmtid="{D5CDD505-2E9C-101B-9397-08002B2CF9AE}" pid="4" name="Producer">
    <vt:lpwstr>3-Heights(TM) PDF Security Shell 4.8.25.2 (http://www.pdf-tools.com)</vt:lpwstr>
  </property>
</Properties>
</file>